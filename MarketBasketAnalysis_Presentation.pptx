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TITLE
"Hi everyone — I'm Kam, and today I'm presenting my capstone project: a Market Basket Analysis and Smart Retail Recommendation System.
The core question I set out to answer was: can we figure out what products customers buy together — and turn that insight into a tool any business user can actually use?
Over this project I processed over 541,000 real retail transactions, mined thousands of association rules, and built a live recommendation dashboard. Let me walk you through how I got here."
DEMO NOTE: If live app is open, gesture toward it — "The dashboard behind me is the final deliverable."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PROBLEM
"The problem I'm solving is really two things in one.
First — product discovery. Most retailers don't have a principled way to know which products belong together. They might look at sales data, but that's not the same as understanding co-purchase behavior.
Second — the gap between analysis and action. Even when data scientists find good insights, they live in notebooks that non-technical people can't use.
My goal was to close both gaps: use a real algorithm on real data, and make the output actually accessible."
PAUSE: "Let me show you what the data looked like before I could do any of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DATA &amp; CLEANING
"The dataset came from the UCI Machine Learning Repository — a real UK online retailer's transaction log from 2010-2011.
Before I could model anything, I needed to understand what was actually in the data.
Three cleaning decisions shaped everything downstream:
First — I dropped null descriptions. If a product has no name, it can't be part of a basket rule.
Second — I removed cancelled orders. Invoices starting with 'C' are returns — including them would have injected negative signals into the model.
Third — I scoped to UK-only. The UK made up 91.5% of transactions. Mixing markets would mean comparing apples to oranges.
One subtle but important decision was binarizing quantities. For basket analysis, it doesn't matter if someone bought 1 teacup or 12 — what matters is whether it was in their basket at all."
DEMO HOOK: "If you look at the raw data in the notebook, you can see exactly what the binarized transaction matrix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THE ALGORITHM
"Association rule mining comes down to three numbers.
Support tells you how common a pair is across all transactions.
Confidence tells you, given someone bought A, how likely are they to also buy B.
Lift is the most interesting one — it tells you whether the pairing is more likely than you'd expect if the two products were purchased completely independently. A lift of 18 means the pairing is 18 times more likely than chance. That's a signal, not noise.
I started with the Apriori algorithm — the classic approach — at a 2% support threshold. That gave me 155 rules. But when I built the dashboard, I realized too many products had no recommendations at all. Apriori missed them because they appeared in fewer than 2% of baskets.
So I dropped the threshold to 1.5% — but Apriori ran out of memory. The 18,000 × 4,000 matrix was too large for candidate generation.
That's when I switched to FP-Growth. It produces identical rules using a compressed tree structure — no memory issue. The result was 2,795 rules covering 241 products."
PAUSE: "Now let me show you what those rules actually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FINDINGS
"This is my favorite slide — because this is where the math turns into meaning.
The top rule by lift score was: Pink Regency Teacup → Green Regency Teacup + Roses Regency Teacup. Lift of 18.68.
What does that actually mean? These three teacups are 18 times more likely to be purchased together than if customers were picking products randomly. That's not a coincidence. That's collection-completion behavior.
Customers aren't casually browsing. They're intentionally buying matching sets. Knowing that changes how you think about promotions, bundling, and shelf placement entirely.
The Charlotte Bag results told the same story — customers consistently buying Woodland, Strawberry, and Polkadot variants together, with lifts between 14 and 15.
My scatter plot confirmed something useful: the strongest rules are in the moderate support range — not the most popular products. The niche associations are where the real insight lives."
DEMO HOOK: "Let me pull up the dashboard and show you what this looks like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DASHBOARD DEMO
"This is where the project goes from analysis to artifact.
The dashboard is built with Streamlit and has two recommendation tiers.
Tier 1: Frequently Bought Together. These are ranked by confidence — when you put Product A in your basket, these are the products most likely to show up alongside it. I surface them gold, silver, bronze with metric pills directly on each card.
Tier 2: Cross-Sell Opportunities. These are ranked by lift and filtered by my cross-sell heuristic — if two product names share significant keywords, they're in the same family and I exclude them from this tier. What remains are genuinely different category pairings with strong statistical associations.
The whole thing reads from a rules CSV — no data science knowledge required to use it. A store manager can open a browser, pick a product, and immediately see actionable recommendations."
LIVE DEMO SCRIPT:
1. Open the Streamlit app
2. Select 'PINK REGENCY TEACUP AND SAUCER' from the dropdown
3. Walk through the 'Frequently Bought Together' cards — show the metric pills
4. Scroll to Cross-Sell — explain the teal card design distinction
5. Try a second product (e.g. a bag) to show breadth
6. Point out the sidebar stats (241 products, 2,795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LEARNINGS
"Four takeaways I'll carry forward from this project.
First — data cleaning is not a chore. Every decision before the model runs determines what the model can and cannot see. I made conscious, documented choices — and those choices are part of the analysis.
Second — the numbers mean something. Support, confidence, and lift aren't abstract. They're describing human shopping behavior in mathematical language. When I saw lift scores of 18, I wasn't reading statistics — I was reading shopping intent.
Third — if nobody can use the output, the analysis didn't happen. That's the hardest lesson. Jupyter notebooks are not deliverables for business users.
Fourth — the results table is the middle of the project, not the end. The discipline of moving from findings to accessible artifact is the skill I most want to develop going forward."
PAUSE: "One more thing — I want to talk briefly about what I'd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REFLECTION &amp; CLOSE
"I want to be honest about what I'd change.
If I had more time, the first thing I'd tackle is temporal analysis. I treated a full year of data as one undifferentiated pool. But holiday Q4 shopping and Q1 behavior are fundamentally different — and the association rules would reflect that.
The cross-sell heuristic works well on this dataset, but I'm aware of its limitations. A shared word like 'RED' in two completely different product lines can trick it. An embedding-based similarity approach would catch that.
And I'd invest more in visualization. The scatter plot was useful, but a lift network graph — showing which products cluster together — would be much more compelling at a presentation like this.
[MAIN TAKEAWAY — deliver slowly]
But the thing I'm most proud of is something simple: this project ends with a tool someone can use.
I didn't stop at a table of numbers. I didn't stop at a notebook. I built something a business user can open in a browser, interact with, and walk away from with a specific recommendation they can act on.
That's the discipline I want to carry into every project going forward — analysis doesn't end at insight. It ends at usefulness."
CLOSING: "I'm happy to take any questions, and I'm also happy to pull up the live dashboard and try any product you want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B46"/>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D9488"/>
          </a:solidFill>
          <a:ln/>
        </p:spPr>
      </p:sp>
      <p:sp>
        <p:nvSpPr>
          <p:cNvPr id="3" name="Shape 1"/>
          <p:cNvSpPr/>
          <p:nvPr/>
        </p:nvSpPr>
        <p:spPr>
          <a:xfrm>
            <a:off x="6858000" y="3474720"/>
            <a:ext cx="3200400" cy="3200400"/>
          </a:xfrm>
          <a:prstGeom prst="ellipse">
            <a:avLst/>
          </a:prstGeom>
          <a:solidFill>
            <a:srgbClr val="0D9488">
              <a:alpha val="12000"/>
            </a:srgbClr>
          </a:solidFill>
          <a:ln/>
        </p:spPr>
      </p:sp>
      <p:sp>
        <p:nvSpPr>
          <p:cNvPr id="4" name="Shape 2"/>
          <p:cNvSpPr/>
          <p:nvPr/>
        </p:nvSpPr>
        <p:spPr>
          <a:xfrm>
            <a:off x="7498080" y="182880"/>
            <a:ext cx="2011680" cy="2011680"/>
          </a:xfrm>
          <a:prstGeom prst="ellipse">
            <a:avLst/>
          </a:prstGeom>
          <a:solidFill>
            <a:srgbClr val="14B8A6">
              <a:alpha val="12000"/>
            </a:srgbClr>
          </a:solidFill>
          <a:ln/>
        </p:spPr>
      </p:sp>
      <p:sp>
        <p:nvSpPr>
          <p:cNvPr id="5" name="Text 3"/>
          <p:cNvSpPr/>
          <p:nvPr/>
        </p:nvSpPr>
        <p:spPr>
          <a:xfrm>
            <a:off x="640080" y="822960"/>
            <a:ext cx="8046720" cy="1005840"/>
          </a:xfrm>
          <a:prstGeom prst="rect">
            <a:avLst/>
          </a:prstGeom>
          <a:noFill/>
          <a:ln/>
        </p:spPr>
        <p:txBody>
          <a:bodyPr wrap="square" lIns="0" tIns="0" rIns="0" bIns="0"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Market Basket Analysis</a:t>
            </a:r>
            <a:endParaRPr lang="en-US" sz="4000" dirty="0"/>
          </a:p>
        </p:txBody>
      </p:sp>
      <p:sp>
        <p:nvSpPr>
          <p:cNvPr id="6" name="Text 4"/>
          <p:cNvSpPr/>
          <p:nvPr/>
        </p:nvSpPr>
        <p:spPr>
          <a:xfrm>
            <a:off x="640080" y="1737360"/>
            <a:ext cx="8046720" cy="822960"/>
          </a:xfrm>
          <a:prstGeom prst="rect">
            <a:avLst/>
          </a:prstGeom>
          <a:noFill/>
          <a:ln/>
        </p:spPr>
        <p:txBody>
          <a:bodyPr wrap="square" lIns="0" tIns="0" rIns="0" bIns="0" rtlCol="0" anchor="ctr"/>
          <a:lstStyle/>
          <a:p>
            <a:pPr algn="l" indent="0" marL="0">
              <a:buNone/>
            </a:pPr>
            <a:r>
              <a:rPr lang="en-US" sz="2600" dirty="0">
                <a:solidFill>
                  <a:srgbClr val="14B8A6"/>
                </a:solidFill>
                <a:latin typeface="Calibri" pitchFamily="34" charset="0"/>
                <a:ea typeface="Calibri" pitchFamily="34" charset="-122"/>
                <a:cs typeface="Calibri" pitchFamily="34" charset="-120"/>
              </a:rPr>
              <a:t>&amp; Smart Retail Recommendation System</a:t>
            </a:r>
            <a:endParaRPr lang="en-US" sz="2600" dirty="0"/>
          </a:p>
        </p:txBody>
      </p:sp>
      <p:sp>
        <p:nvSpPr>
          <p:cNvPr id="7" name="Shape 5"/>
          <p:cNvSpPr/>
          <p:nvPr/>
        </p:nvSpPr>
        <p:spPr>
          <a:xfrm>
            <a:off x="640080" y="2697480"/>
            <a:ext cx="4114800" cy="36576"/>
          </a:xfrm>
          <a:prstGeom prst="rect">
            <a:avLst/>
          </a:prstGeom>
          <a:solidFill>
            <a:srgbClr val="0D9488"/>
          </a:solidFill>
          <a:ln/>
        </p:spPr>
      </p:sp>
      <p:sp>
        <p:nvSpPr>
          <p:cNvPr id="8" name="Text 6"/>
          <p:cNvSpPr/>
          <p:nvPr/>
        </p:nvSpPr>
        <p:spPr>
          <a:xfrm>
            <a:off x="640080" y="2880360"/>
            <a:ext cx="5486400" cy="411480"/>
          </a:xfrm>
          <a:prstGeom prst="rect">
            <a:avLst/>
          </a:prstGeom>
          <a:noFill/>
          <a:ln/>
        </p:spPr>
        <p:txBody>
          <a:bodyPr wrap="square" lIns="0" tIns="0" rIns="0" bIns="0" rtlCol="0" anchor="ctr"/>
          <a:lstStyle/>
          <a:p>
            <a:pPr algn="l" indent="0" marL="0">
              <a:buNone/>
            </a:pPr>
            <a:r>
              <a:rPr lang="en-US" sz="1500" dirty="0">
                <a:solidFill>
                  <a:srgbClr val="94A3B8"/>
                </a:solidFill>
                <a:latin typeface="Calibri" pitchFamily="34" charset="0"/>
                <a:ea typeface="Calibri" pitchFamily="34" charset="-122"/>
                <a:cs typeface="Calibri" pitchFamily="34" charset="-120"/>
              </a:rPr>
              <a:t>Capstone Project Presentation</a:t>
            </a:r>
            <a:endParaRPr lang="en-US" sz="1500" dirty="0"/>
          </a:p>
        </p:txBody>
      </p:sp>
      <p:sp>
        <p:nvSpPr>
          <p:cNvPr id="9" name="Text 7"/>
          <p:cNvSpPr/>
          <p:nvPr/>
        </p:nvSpPr>
        <p:spPr>
          <a:xfrm>
            <a:off x="640080" y="3337560"/>
            <a:ext cx="5486400" cy="411480"/>
          </a:xfrm>
          <a:prstGeom prst="rect">
            <a:avLst/>
          </a:prstGeom>
          <a:noFill/>
          <a:ln/>
        </p:spPr>
        <p:txBody>
          <a:bodyPr wrap="square" lIns="0" tIns="0" rIns="0" bIns="0" rtlCol="0" anchor="ctr"/>
          <a:lstStyle/>
          <a:p>
            <a:pPr algn="l" indent="0" marL="0">
              <a:buNone/>
            </a:pPr>
            <a:r>
              <a:rPr lang="en-US" sz="1400" dirty="0">
                <a:solidFill>
                  <a:srgbClr val="94A3B8"/>
                </a:solidFill>
                <a:latin typeface="Calibri" pitchFamily="34" charset="0"/>
                <a:ea typeface="Calibri" pitchFamily="34" charset="-122"/>
                <a:cs typeface="Calibri" pitchFamily="34" charset="-120"/>
              </a:rPr>
              <a:t>Chikamso Ezeaku  |  Business Analytics</a:t>
            </a:r>
            <a:endParaRPr lang="en-US" sz="1400" dirty="0"/>
          </a:p>
        </p:txBody>
      </p:sp>
      <p:sp>
        <p:nvSpPr>
          <p:cNvPr id="10" name="Shape 8"/>
          <p:cNvSpPr/>
          <p:nvPr/>
        </p:nvSpPr>
        <p:spPr>
          <a:xfrm>
            <a:off x="640080" y="4114800"/>
            <a:ext cx="1920240" cy="822960"/>
          </a:xfrm>
          <a:prstGeom prst="rect">
            <a:avLst/>
          </a:prstGeom>
          <a:solidFill>
            <a:srgbClr val="0D9488">
              <a:alpha val="25000"/>
            </a:srgbClr>
          </a:solidFill>
          <a:ln/>
          <a:effectLst>
            <a:outerShdw sx="100000" sy="100000" kx="0" ky="0" algn="bl" rotWithShape="0" blurRad="101600" dist="38100" dir="8100000">
              <a:srgbClr val="000000">
                <a:alpha val="12000"/>
              </a:srgbClr>
            </a:outerShdw>
          </a:effectLst>
        </p:spPr>
      </p:sp>
      <p:sp>
        <p:nvSpPr>
          <p:cNvPr id="11" name="Text 9"/>
          <p:cNvSpPr/>
          <p:nvPr/>
        </p:nvSpPr>
        <p:spPr>
          <a:xfrm>
            <a:off x="640080" y="4133088"/>
            <a:ext cx="1920240"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541K+</a:t>
            </a:r>
            <a:endParaRPr lang="en-US" sz="2000" dirty="0"/>
          </a:p>
        </p:txBody>
      </p:sp>
      <p:sp>
        <p:nvSpPr>
          <p:cNvPr id="12" name="Text 10"/>
          <p:cNvSpPr/>
          <p:nvPr/>
        </p:nvSpPr>
        <p:spPr>
          <a:xfrm>
            <a:off x="640080" y="4517136"/>
            <a:ext cx="1920240" cy="256032"/>
          </a:xfrm>
          <a:prstGeom prst="rect">
            <a:avLst/>
          </a:prstGeom>
          <a:noFill/>
          <a:ln/>
        </p:spPr>
        <p:txBody>
          <a:bodyPr wrap="square" lIns="0" tIns="0" rIns="0" bIns="0" rtlCol="0" anchor="ctr"/>
          <a:lstStyle/>
          <a:p>
            <a:pPr algn="ctr" indent="0" marL="0">
              <a:buNone/>
            </a:pPr>
            <a:r>
              <a:rPr lang="en-US" sz="900" dirty="0">
                <a:solidFill>
                  <a:srgbClr val="CCFBF1"/>
                </a:solidFill>
                <a:latin typeface="Calibri" pitchFamily="34" charset="0"/>
                <a:ea typeface="Calibri" pitchFamily="34" charset="-122"/>
                <a:cs typeface="Calibri" pitchFamily="34" charset="-120"/>
              </a:rPr>
              <a:t>Raw Transactions</a:t>
            </a:r>
            <a:endParaRPr lang="en-US" sz="900" dirty="0"/>
          </a:p>
        </p:txBody>
      </p:sp>
      <p:sp>
        <p:nvSpPr>
          <p:cNvPr id="13" name="Shape 11"/>
          <p:cNvSpPr/>
          <p:nvPr/>
        </p:nvSpPr>
        <p:spPr>
          <a:xfrm>
            <a:off x="2788920" y="4114800"/>
            <a:ext cx="1920240" cy="822960"/>
          </a:xfrm>
          <a:prstGeom prst="rect">
            <a:avLst/>
          </a:prstGeom>
          <a:solidFill>
            <a:srgbClr val="0D9488">
              <a:alpha val="25000"/>
            </a:srgbClr>
          </a:solidFill>
          <a:ln/>
          <a:effectLst>
            <a:outerShdw sx="100000" sy="100000" kx="0" ky="0" algn="bl" rotWithShape="0" blurRad="101600" dist="38100" dir="8100000">
              <a:srgbClr val="000000">
                <a:alpha val="12000"/>
              </a:srgbClr>
            </a:outerShdw>
          </a:effectLst>
        </p:spPr>
      </p:sp>
      <p:sp>
        <p:nvSpPr>
          <p:cNvPr id="14" name="Text 12"/>
          <p:cNvSpPr/>
          <p:nvPr/>
        </p:nvSpPr>
        <p:spPr>
          <a:xfrm>
            <a:off x="2788920" y="4133088"/>
            <a:ext cx="1920240"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18,668</a:t>
            </a:r>
            <a:endParaRPr lang="en-US" sz="2000" dirty="0"/>
          </a:p>
        </p:txBody>
      </p:sp>
      <p:sp>
        <p:nvSpPr>
          <p:cNvPr id="15" name="Text 13"/>
          <p:cNvSpPr/>
          <p:nvPr/>
        </p:nvSpPr>
        <p:spPr>
          <a:xfrm>
            <a:off x="2788920" y="4517136"/>
            <a:ext cx="1920240" cy="256032"/>
          </a:xfrm>
          <a:prstGeom prst="rect">
            <a:avLst/>
          </a:prstGeom>
          <a:noFill/>
          <a:ln/>
        </p:spPr>
        <p:txBody>
          <a:bodyPr wrap="square" lIns="0" tIns="0" rIns="0" bIns="0" rtlCol="0" anchor="ctr"/>
          <a:lstStyle/>
          <a:p>
            <a:pPr algn="ctr" indent="0" marL="0">
              <a:buNone/>
            </a:pPr>
            <a:r>
              <a:rPr lang="en-US" sz="900" dirty="0">
                <a:solidFill>
                  <a:srgbClr val="CCFBF1"/>
                </a:solidFill>
                <a:latin typeface="Calibri" pitchFamily="34" charset="0"/>
                <a:ea typeface="Calibri" pitchFamily="34" charset="-122"/>
                <a:cs typeface="Calibri" pitchFamily="34" charset="-120"/>
              </a:rPr>
              <a:t>UK Invoices</a:t>
            </a:r>
            <a:endParaRPr lang="en-US" sz="900" dirty="0"/>
          </a:p>
        </p:txBody>
      </p:sp>
      <p:sp>
        <p:nvSpPr>
          <p:cNvPr id="16" name="Shape 14"/>
          <p:cNvSpPr/>
          <p:nvPr/>
        </p:nvSpPr>
        <p:spPr>
          <a:xfrm>
            <a:off x="4937760" y="4114800"/>
            <a:ext cx="1920240" cy="822960"/>
          </a:xfrm>
          <a:prstGeom prst="rect">
            <a:avLst/>
          </a:prstGeom>
          <a:solidFill>
            <a:srgbClr val="0D9488">
              <a:alpha val="25000"/>
            </a:srgbClr>
          </a:solidFill>
          <a:ln/>
          <a:effectLst>
            <a:outerShdw sx="100000" sy="100000" kx="0" ky="0" algn="bl" rotWithShape="0" blurRad="101600" dist="38100" dir="8100000">
              <a:srgbClr val="000000">
                <a:alpha val="12000"/>
              </a:srgbClr>
            </a:outerShdw>
          </a:effectLst>
        </p:spPr>
      </p:sp>
      <p:sp>
        <p:nvSpPr>
          <p:cNvPr id="17" name="Text 15"/>
          <p:cNvSpPr/>
          <p:nvPr/>
        </p:nvSpPr>
        <p:spPr>
          <a:xfrm>
            <a:off x="4937760" y="4133088"/>
            <a:ext cx="1920240"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2,795</a:t>
            </a:r>
            <a:endParaRPr lang="en-US" sz="2000" dirty="0"/>
          </a:p>
        </p:txBody>
      </p:sp>
      <p:sp>
        <p:nvSpPr>
          <p:cNvPr id="18" name="Text 16"/>
          <p:cNvSpPr/>
          <p:nvPr/>
        </p:nvSpPr>
        <p:spPr>
          <a:xfrm>
            <a:off x="4937760" y="4517136"/>
            <a:ext cx="1920240" cy="256032"/>
          </a:xfrm>
          <a:prstGeom prst="rect">
            <a:avLst/>
          </a:prstGeom>
          <a:noFill/>
          <a:ln/>
        </p:spPr>
        <p:txBody>
          <a:bodyPr wrap="square" lIns="0" tIns="0" rIns="0" bIns="0" rtlCol="0" anchor="ctr"/>
          <a:lstStyle/>
          <a:p>
            <a:pPr algn="ctr" indent="0" marL="0">
              <a:buNone/>
            </a:pPr>
            <a:r>
              <a:rPr lang="en-US" sz="900" dirty="0">
                <a:solidFill>
                  <a:srgbClr val="CCFBF1"/>
                </a:solidFill>
                <a:latin typeface="Calibri" pitchFamily="34" charset="0"/>
                <a:ea typeface="Calibri" pitchFamily="34" charset="-122"/>
                <a:cs typeface="Calibri" pitchFamily="34" charset="-120"/>
              </a:rPr>
              <a:t>Association Rules</a:t>
            </a:r>
            <a:endParaRPr lang="en-US" sz="900" dirty="0"/>
          </a:p>
        </p:txBody>
      </p:sp>
      <p:sp>
        <p:nvSpPr>
          <p:cNvPr id="19" name="Shape 17"/>
          <p:cNvSpPr/>
          <p:nvPr/>
        </p:nvSpPr>
        <p:spPr>
          <a:xfrm>
            <a:off x="7086600" y="4114800"/>
            <a:ext cx="1920240" cy="822960"/>
          </a:xfrm>
          <a:prstGeom prst="rect">
            <a:avLst/>
          </a:prstGeom>
          <a:solidFill>
            <a:srgbClr val="0D9488">
              <a:alpha val="25000"/>
            </a:srgbClr>
          </a:solidFill>
          <a:ln/>
          <a:effectLst>
            <a:outerShdw sx="100000" sy="100000" kx="0" ky="0" algn="bl" rotWithShape="0" blurRad="101600" dist="38100" dir="8100000">
              <a:srgbClr val="000000">
                <a:alpha val="12000"/>
              </a:srgbClr>
            </a:outerShdw>
          </a:effectLst>
        </p:spPr>
      </p:sp>
      <p:sp>
        <p:nvSpPr>
          <p:cNvPr id="20" name="Text 18"/>
          <p:cNvSpPr/>
          <p:nvPr/>
        </p:nvSpPr>
        <p:spPr>
          <a:xfrm>
            <a:off x="7086600" y="4133088"/>
            <a:ext cx="1920240"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18.68×</a:t>
            </a:r>
            <a:endParaRPr lang="en-US" sz="2000" dirty="0"/>
          </a:p>
        </p:txBody>
      </p:sp>
      <p:sp>
        <p:nvSpPr>
          <p:cNvPr id="21" name="Text 19"/>
          <p:cNvSpPr/>
          <p:nvPr/>
        </p:nvSpPr>
        <p:spPr>
          <a:xfrm>
            <a:off x="7086600" y="4517136"/>
            <a:ext cx="1920240" cy="256032"/>
          </a:xfrm>
          <a:prstGeom prst="rect">
            <a:avLst/>
          </a:prstGeom>
          <a:noFill/>
          <a:ln/>
        </p:spPr>
        <p:txBody>
          <a:bodyPr wrap="square" lIns="0" tIns="0" rIns="0" bIns="0" rtlCol="0" anchor="ctr"/>
          <a:lstStyle/>
          <a:p>
            <a:pPr algn="ctr" indent="0" marL="0">
              <a:buNone/>
            </a:pPr>
            <a:r>
              <a:rPr lang="en-US" sz="900" dirty="0">
                <a:solidFill>
                  <a:srgbClr val="CCFBF1"/>
                </a:solidFill>
                <a:latin typeface="Calibri" pitchFamily="34" charset="0"/>
                <a:ea typeface="Calibri" pitchFamily="34" charset="-122"/>
                <a:cs typeface="Calibri" pitchFamily="34" charset="-120"/>
              </a:rPr>
              <a:t>Top Lift Score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5029200" cy="594360"/>
          </a:xfrm>
          <a:prstGeom prst="rect">
            <a:avLst/>
          </a:prstGeom>
          <a:noFill/>
          <a:ln/>
        </p:spPr>
        <p:txBody>
          <a:bodyPr wrap="square" lIns="0" tIns="0" rIns="0" bIns="0" rtlCol="0" anchor="ctr"/>
          <a:lstStyle/>
          <a:p>
            <a:pPr indent="0" marL="0">
              <a:buNone/>
            </a:pPr>
            <a:r>
              <a:rPr lang="en-US" sz="3000" b="1" dirty="0">
                <a:solidFill>
                  <a:srgbClr val="0F2B46"/>
                </a:solidFill>
                <a:latin typeface="Calibri" pitchFamily="34" charset="0"/>
                <a:ea typeface="Calibri" pitchFamily="34" charset="-122"/>
                <a:cs typeface="Calibri" pitchFamily="34" charset="-120"/>
              </a:rPr>
              <a:t>The Problem</a:t>
            </a:r>
            <a:endParaRPr lang="en-US" sz="3000" dirty="0"/>
          </a:p>
        </p:txBody>
      </p:sp>
      <p:sp>
        <p:nvSpPr>
          <p:cNvPr id="3" name="Shape 1"/>
          <p:cNvSpPr/>
          <p:nvPr/>
        </p:nvSpPr>
        <p:spPr>
          <a:xfrm>
            <a:off x="457200" y="960120"/>
            <a:ext cx="73152" cy="3108960"/>
          </a:xfrm>
          <a:prstGeom prst="rect">
            <a:avLst/>
          </a:prstGeom>
          <a:solidFill>
            <a:srgbClr val="0D9488"/>
          </a:solidFill>
          <a:ln/>
        </p:spPr>
      </p:sp>
      <p:sp>
        <p:nvSpPr>
          <p:cNvPr id="4" name="Text 2"/>
          <p:cNvSpPr/>
          <p:nvPr/>
        </p:nvSpPr>
        <p:spPr>
          <a:xfrm>
            <a:off x="685800" y="1005840"/>
            <a:ext cx="4114800" cy="320040"/>
          </a:xfrm>
          <a:prstGeom prst="rect">
            <a:avLst/>
          </a:prstGeom>
          <a:noFill/>
          <a:ln/>
        </p:spPr>
        <p:txBody>
          <a:bodyPr wrap="square" lIns="0" tIns="0" rIns="0" bIns="0" rtlCol="0" anchor="ctr"/>
          <a:lstStyle/>
          <a:p>
            <a:pPr indent="0" marL="0">
              <a:buNone/>
            </a:pPr>
            <a:r>
              <a:rPr lang="en-US" sz="1300" b="1" dirty="0">
                <a:solidFill>
                  <a:srgbClr val="0F2B46"/>
                </a:solidFill>
                <a:latin typeface="Calibri" pitchFamily="34" charset="0"/>
                <a:ea typeface="Calibri" pitchFamily="34" charset="-122"/>
                <a:cs typeface="Calibri" pitchFamily="34" charset="-120"/>
              </a:rPr>
              <a:t>Retailers leave money on the table</a:t>
            </a:r>
            <a:endParaRPr lang="en-US" sz="1300" dirty="0"/>
          </a:p>
        </p:txBody>
      </p:sp>
      <p:sp>
        <p:nvSpPr>
          <p:cNvPr id="5" name="Text 3"/>
          <p:cNvSpPr/>
          <p:nvPr/>
        </p:nvSpPr>
        <p:spPr>
          <a:xfrm>
            <a:off x="685800" y="1325880"/>
            <a:ext cx="4114800" cy="54864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Without knowing which products customers buy together, promotions and shelf placement are guesswork.</a:t>
            </a:r>
            <a:endParaRPr lang="en-US" sz="1150" dirty="0"/>
          </a:p>
        </p:txBody>
      </p:sp>
      <p:sp>
        <p:nvSpPr>
          <p:cNvPr id="6" name="Text 4"/>
          <p:cNvSpPr/>
          <p:nvPr/>
        </p:nvSpPr>
        <p:spPr>
          <a:xfrm>
            <a:off x="685800" y="2011680"/>
            <a:ext cx="4114800" cy="320040"/>
          </a:xfrm>
          <a:prstGeom prst="rect">
            <a:avLst/>
          </a:prstGeom>
          <a:noFill/>
          <a:ln/>
        </p:spPr>
        <p:txBody>
          <a:bodyPr wrap="square" lIns="0" tIns="0" rIns="0" bIns="0" rtlCol="0" anchor="ctr"/>
          <a:lstStyle/>
          <a:p>
            <a:pPr indent="0" marL="0">
              <a:buNone/>
            </a:pPr>
            <a:r>
              <a:rPr lang="en-US" sz="1300" b="1" dirty="0">
                <a:solidFill>
                  <a:srgbClr val="0F2B46"/>
                </a:solidFill>
                <a:latin typeface="Calibri" pitchFamily="34" charset="0"/>
                <a:ea typeface="Calibri" pitchFamily="34" charset="-122"/>
                <a:cs typeface="Calibri" pitchFamily="34" charset="-120"/>
              </a:rPr>
              <a:t>Analytics output ≠ business usability</a:t>
            </a:r>
            <a:endParaRPr lang="en-US" sz="1300" dirty="0"/>
          </a:p>
        </p:txBody>
      </p:sp>
      <p:sp>
        <p:nvSpPr>
          <p:cNvPr id="7" name="Text 5"/>
          <p:cNvSpPr/>
          <p:nvPr/>
        </p:nvSpPr>
        <p:spPr>
          <a:xfrm>
            <a:off x="685800" y="2331720"/>
            <a:ext cx="4114800" cy="54864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Data science findings trapped inside Jupyter notebooks can't be acted on by store managers or merchandising teams.</a:t>
            </a:r>
            <a:endParaRPr lang="en-US" sz="1150" dirty="0"/>
          </a:p>
        </p:txBody>
      </p:sp>
      <p:sp>
        <p:nvSpPr>
          <p:cNvPr id="8" name="Text 6"/>
          <p:cNvSpPr/>
          <p:nvPr/>
        </p:nvSpPr>
        <p:spPr>
          <a:xfrm>
            <a:off x="685800" y="3017520"/>
            <a:ext cx="4114800" cy="320040"/>
          </a:xfrm>
          <a:prstGeom prst="rect">
            <a:avLst/>
          </a:prstGeom>
          <a:noFill/>
          <a:ln/>
        </p:spPr>
        <p:txBody>
          <a:bodyPr wrap="square" lIns="0" tIns="0" rIns="0" bIns="0" rtlCol="0" anchor="ctr"/>
          <a:lstStyle/>
          <a:p>
            <a:pPr indent="0" marL="0">
              <a:buNone/>
            </a:pPr>
            <a:r>
              <a:rPr lang="en-US" sz="1300" b="1" dirty="0">
                <a:solidFill>
                  <a:srgbClr val="0F2B46"/>
                </a:solidFill>
                <a:latin typeface="Calibri" pitchFamily="34" charset="0"/>
                <a:ea typeface="Calibri" pitchFamily="34" charset="-122"/>
                <a:cs typeface="Calibri" pitchFamily="34" charset="-120"/>
              </a:rPr>
              <a:t>Generic recommendations miss the signal</a:t>
            </a:r>
            <a:endParaRPr lang="en-US" sz="1300" dirty="0"/>
          </a:p>
        </p:txBody>
      </p:sp>
      <p:sp>
        <p:nvSpPr>
          <p:cNvPr id="9" name="Text 7"/>
          <p:cNvSpPr/>
          <p:nvPr/>
        </p:nvSpPr>
        <p:spPr>
          <a:xfrm>
            <a:off x="685800" y="3337560"/>
            <a:ext cx="4114800" cy="54864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"Customers also bought" lists often surface noise — not statistically meaningful co-purchase patterns.</a:t>
            </a:r>
            <a:endParaRPr lang="en-US" sz="1150" dirty="0"/>
          </a:p>
        </p:txBody>
      </p:sp>
      <p:sp>
        <p:nvSpPr>
          <p:cNvPr id="10" name="Shape 8"/>
          <p:cNvSpPr/>
          <p:nvPr/>
        </p:nvSpPr>
        <p:spPr>
          <a:xfrm>
            <a:off x="5303520" y="274320"/>
            <a:ext cx="3474720" cy="4297680"/>
          </a:xfrm>
          <a:prstGeom prst="rect">
            <a:avLst/>
          </a:prstGeom>
          <a:solidFill>
            <a:srgbClr val="0F2B46"/>
          </a:solidFill>
          <a:ln/>
          <a:effectLst>
            <a:outerShdw sx="100000" sy="100000" kx="0" ky="0" algn="bl" rotWithShape="0" blurRad="101600" dist="38100" dir="8100000">
              <a:srgbClr val="000000">
                <a:alpha val="12000"/>
              </a:srgbClr>
            </a:outerShdw>
          </a:effectLst>
        </p:spPr>
      </p:sp>
      <p:sp>
        <p:nvSpPr>
          <p:cNvPr id="11" name="Text 9"/>
          <p:cNvSpPr/>
          <p:nvPr/>
        </p:nvSpPr>
        <p:spPr>
          <a:xfrm>
            <a:off x="5394960" y="411480"/>
            <a:ext cx="3291840" cy="457200"/>
          </a:xfrm>
          <a:prstGeom prst="rect">
            <a:avLst/>
          </a:prstGeom>
          <a:noFill/>
          <a:ln/>
        </p:spPr>
        <p:txBody>
          <a:bodyPr wrap="square" lIns="0" tIns="0" rIns="0" bIns="0" rtlCol="0" anchor="ctr"/>
          <a:lstStyle/>
          <a:p>
            <a:pPr algn="ctr" indent="0" marL="0">
              <a:buNone/>
            </a:pPr>
            <a:r>
              <a:rPr lang="en-US" sz="1800" b="1" dirty="0">
                <a:solidFill>
                  <a:srgbClr val="14B8A6"/>
                </a:solidFill>
                <a:latin typeface="Calibri" pitchFamily="34" charset="0"/>
                <a:ea typeface="Calibri" pitchFamily="34" charset="-122"/>
                <a:cs typeface="Calibri" pitchFamily="34" charset="-120"/>
              </a:rPr>
              <a:t>The Goal</a:t>
            </a:r>
            <a:endParaRPr lang="en-US" sz="1800" dirty="0"/>
          </a:p>
        </p:txBody>
      </p:sp>
      <p:sp>
        <p:nvSpPr>
          <p:cNvPr id="12" name="Shape 10"/>
          <p:cNvSpPr/>
          <p:nvPr/>
        </p:nvSpPr>
        <p:spPr>
          <a:xfrm>
            <a:off x="5669280" y="960120"/>
            <a:ext cx="2834640" cy="27432"/>
          </a:xfrm>
          <a:prstGeom prst="rect">
            <a:avLst/>
          </a:prstGeom>
          <a:solidFill>
            <a:srgbClr val="0D9488"/>
          </a:solidFill>
          <a:ln/>
        </p:spPr>
      </p:sp>
      <p:sp>
        <p:nvSpPr>
          <p:cNvPr id="13" name="Text 11"/>
          <p:cNvSpPr/>
          <p:nvPr/>
        </p:nvSpPr>
        <p:spPr>
          <a:xfrm>
            <a:off x="5394960" y="1097280"/>
            <a:ext cx="3291840" cy="640080"/>
          </a:xfrm>
          <a:prstGeom prst="rect">
            <a:avLst/>
          </a:prstGeom>
          <a:noFill/>
          <a:ln/>
        </p:spPr>
        <p:txBody>
          <a:bodyPr wrap="square" lIns="0" tIns="0" rIns="0" bIns="0" rtlCol="0" anchor="ctr"/>
          <a:lstStyle/>
          <a:p>
            <a:pPr indent="0" marL="0">
              <a:buNone/>
            </a:pPr>
            <a:r>
              <a:rPr lang="en-US" sz="1150" b="1" dirty="0">
                <a:solidFill>
                  <a:srgbClr val="0D9488"/>
                </a:solidFill>
                <a:latin typeface="Calibri" pitchFamily="34" charset="0"/>
                <a:ea typeface="Calibri" pitchFamily="34" charset="-122"/>
                <a:cs typeface="Calibri" pitchFamily="34" charset="-120"/>
              </a:rPr>
              <a:t>→  </a:t>
            </a:r>
            <a:pPr indent="0" marL="0">
              <a:buNone/>
            </a:pPr>
            <a:r>
              <a:rPr lang="en-US" sz="1150" dirty="0">
                <a:solidFill>
                  <a:srgbClr val="FFFFFF"/>
                </a:solidFill>
                <a:latin typeface="Calibri" pitchFamily="34" charset="0"/>
                <a:ea typeface="Calibri" pitchFamily="34" charset="-122"/>
                <a:cs typeface="Calibri" pitchFamily="34" charset="-120"/>
              </a:rPr>
              <a:t>Mine real purchasing behavior from 18,668 UK transactions</a:t>
            </a:r>
            <a:endParaRPr lang="en-US" sz="1150" dirty="0"/>
          </a:p>
        </p:txBody>
      </p:sp>
      <p:sp>
        <p:nvSpPr>
          <p:cNvPr id="14" name="Text 12"/>
          <p:cNvSpPr/>
          <p:nvPr/>
        </p:nvSpPr>
        <p:spPr>
          <a:xfrm>
            <a:off x="5394960" y="1828800"/>
            <a:ext cx="3291840" cy="640080"/>
          </a:xfrm>
          <a:prstGeom prst="rect">
            <a:avLst/>
          </a:prstGeom>
          <a:noFill/>
          <a:ln/>
        </p:spPr>
        <p:txBody>
          <a:bodyPr wrap="square" lIns="0" tIns="0" rIns="0" bIns="0" rtlCol="0" anchor="ctr"/>
          <a:lstStyle/>
          <a:p>
            <a:pPr indent="0" marL="0">
              <a:buNone/>
            </a:pPr>
            <a:r>
              <a:rPr lang="en-US" sz="1150" b="1" dirty="0">
                <a:solidFill>
                  <a:srgbClr val="0D9488"/>
                </a:solidFill>
                <a:latin typeface="Calibri" pitchFamily="34" charset="0"/>
                <a:ea typeface="Calibri" pitchFamily="34" charset="-122"/>
                <a:cs typeface="Calibri" pitchFamily="34" charset="-120"/>
              </a:rPr>
              <a:t>→  </a:t>
            </a:r>
            <a:pPr indent="0" marL="0">
              <a:buNone/>
            </a:pPr>
            <a:r>
              <a:rPr lang="en-US" sz="1150" dirty="0">
                <a:solidFill>
                  <a:srgbClr val="FFFFFF"/>
                </a:solidFill>
                <a:latin typeface="Calibri" pitchFamily="34" charset="0"/>
                <a:ea typeface="Calibri" pitchFamily="34" charset="-122"/>
                <a:cs typeface="Calibri" pitchFamily="34" charset="-120"/>
              </a:rPr>
              <a:t>Generate statistically valid association rules (support, confidence, lift)</a:t>
            </a:r>
            <a:endParaRPr lang="en-US" sz="1150" dirty="0"/>
          </a:p>
        </p:txBody>
      </p:sp>
      <p:sp>
        <p:nvSpPr>
          <p:cNvPr id="15" name="Text 13"/>
          <p:cNvSpPr/>
          <p:nvPr/>
        </p:nvSpPr>
        <p:spPr>
          <a:xfrm>
            <a:off x="5394960" y="2560320"/>
            <a:ext cx="3291840" cy="640080"/>
          </a:xfrm>
          <a:prstGeom prst="rect">
            <a:avLst/>
          </a:prstGeom>
          <a:noFill/>
          <a:ln/>
        </p:spPr>
        <p:txBody>
          <a:bodyPr wrap="square" lIns="0" tIns="0" rIns="0" bIns="0" rtlCol="0" anchor="ctr"/>
          <a:lstStyle/>
          <a:p>
            <a:pPr indent="0" marL="0">
              <a:buNone/>
            </a:pPr>
            <a:r>
              <a:rPr lang="en-US" sz="1150" b="1" dirty="0">
                <a:solidFill>
                  <a:srgbClr val="0D9488"/>
                </a:solidFill>
                <a:latin typeface="Calibri" pitchFamily="34" charset="0"/>
                <a:ea typeface="Calibri" pitchFamily="34" charset="-122"/>
                <a:cs typeface="Calibri" pitchFamily="34" charset="-120"/>
              </a:rPr>
              <a:t>→  </a:t>
            </a:r>
            <a:pPr indent="0" marL="0">
              <a:buNone/>
            </a:pPr>
            <a:r>
              <a:rPr lang="en-US" sz="1150" dirty="0">
                <a:solidFill>
                  <a:srgbClr val="FFFFFF"/>
                </a:solidFill>
                <a:latin typeface="Calibri" pitchFamily="34" charset="0"/>
                <a:ea typeface="Calibri" pitchFamily="34" charset="-122"/>
                <a:cs typeface="Calibri" pitchFamily="34" charset="-120"/>
              </a:rPr>
              <a:t>Deliver results through a live dashboard — no code required</a:t>
            </a:r>
            <a:endParaRPr lang="en-US" sz="1150" dirty="0"/>
          </a:p>
        </p:txBody>
      </p:sp>
      <p:sp>
        <p:nvSpPr>
          <p:cNvPr id="16" name="Text 14"/>
          <p:cNvSpPr/>
          <p:nvPr/>
        </p:nvSpPr>
        <p:spPr>
          <a:xfrm>
            <a:off x="5394960" y="3291840"/>
            <a:ext cx="3291840" cy="640080"/>
          </a:xfrm>
          <a:prstGeom prst="rect">
            <a:avLst/>
          </a:prstGeom>
          <a:noFill/>
          <a:ln/>
        </p:spPr>
        <p:txBody>
          <a:bodyPr wrap="square" lIns="0" tIns="0" rIns="0" bIns="0" rtlCol="0" anchor="ctr"/>
          <a:lstStyle/>
          <a:p>
            <a:pPr indent="0" marL="0">
              <a:buNone/>
            </a:pPr>
            <a:r>
              <a:rPr lang="en-US" sz="1150" b="1" dirty="0">
                <a:solidFill>
                  <a:srgbClr val="0D9488"/>
                </a:solidFill>
                <a:latin typeface="Calibri" pitchFamily="34" charset="0"/>
                <a:ea typeface="Calibri" pitchFamily="34" charset="-122"/>
                <a:cs typeface="Calibri" pitchFamily="34" charset="-120"/>
              </a:rPr>
              <a:t>→  </a:t>
            </a:r>
            <a:pPr indent="0" marL="0">
              <a:buNone/>
            </a:pPr>
            <a:r>
              <a:rPr lang="en-US" sz="1150" dirty="0">
                <a:solidFill>
                  <a:srgbClr val="FFFFFF"/>
                </a:solidFill>
                <a:latin typeface="Calibri" pitchFamily="34" charset="0"/>
                <a:ea typeface="Calibri" pitchFamily="34" charset="-122"/>
                <a:cs typeface="Calibri" pitchFamily="34" charset="-120"/>
              </a:rPr>
              <a:t>Separate bundle recommendations from cross-sell opportunities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indent="0" marL="0">
              <a:buNone/>
            </a:pPr>
            <a:r>
              <a:rPr lang="en-US" sz="2800" b="1" dirty="0">
                <a:solidFill>
                  <a:srgbClr val="0F2B46"/>
                </a:solidFill>
                <a:latin typeface="Calibri" pitchFamily="34" charset="0"/>
                <a:ea typeface="Calibri" pitchFamily="34" charset="-122"/>
                <a:cs typeface="Calibri" pitchFamily="34" charset="-120"/>
              </a:rPr>
              <a:t>The Data: From Raw to Ready</a:t>
            </a:r>
            <a:endParaRPr lang="en-US" sz="2800" dirty="0"/>
          </a:p>
        </p:txBody>
      </p:sp>
      <p:sp>
        <p:nvSpPr>
          <p:cNvPr id="3" name="Shape 1"/>
          <p:cNvSpPr/>
          <p:nvPr/>
        </p:nvSpPr>
        <p:spPr>
          <a:xfrm>
            <a:off x="320040" y="1005840"/>
            <a:ext cx="1554480" cy="1234440"/>
          </a:xfrm>
          <a:prstGeom prst="rect">
            <a:avLst/>
          </a:prstGeom>
          <a:solidFill>
            <a:srgbClr val="475569"/>
          </a:solidFill>
          <a:ln/>
          <a:effectLst>
            <a:outerShdw sx="100000" sy="100000" kx="0" ky="0" algn="bl" rotWithShape="0" blurRad="101600" dist="38100" dir="8100000">
              <a:srgbClr val="000000">
                <a:alpha val="12000"/>
              </a:srgbClr>
            </a:outerShdw>
          </a:effectLst>
        </p:spPr>
      </p:sp>
      <p:sp>
        <p:nvSpPr>
          <p:cNvPr id="4" name="Text 2"/>
          <p:cNvSpPr/>
          <p:nvPr/>
        </p:nvSpPr>
        <p:spPr>
          <a:xfrm>
            <a:off x="320040" y="1051560"/>
            <a:ext cx="1554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Raw CSV</a:t>
            </a:r>
            <a:endParaRPr lang="en-US" sz="1100" dirty="0"/>
          </a:p>
        </p:txBody>
      </p:sp>
      <p:sp>
        <p:nvSpPr>
          <p:cNvPr id="5" name="Text 3"/>
          <p:cNvSpPr/>
          <p:nvPr/>
        </p:nvSpPr>
        <p:spPr>
          <a:xfrm>
            <a:off x="320040" y="1463040"/>
            <a:ext cx="1554480" cy="64008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541,909 rows</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UCI Online Retail</a:t>
            </a:r>
            <a:endParaRPr lang="en-US" sz="950" dirty="0"/>
          </a:p>
        </p:txBody>
      </p:sp>
      <p:sp>
        <p:nvSpPr>
          <p:cNvPr id="6" name="Shape 4"/>
          <p:cNvSpPr/>
          <p:nvPr/>
        </p:nvSpPr>
        <p:spPr>
          <a:xfrm>
            <a:off x="1874520" y="1463040"/>
            <a:ext cx="228600" cy="73152"/>
          </a:xfrm>
          <a:prstGeom prst="rect">
            <a:avLst/>
          </a:prstGeom>
          <a:solidFill>
            <a:srgbClr val="94A3B8"/>
          </a:solidFill>
          <a:ln/>
        </p:spPr>
      </p:sp>
      <p:sp>
        <p:nvSpPr>
          <p:cNvPr id="7" name="Shape 5"/>
          <p:cNvSpPr/>
          <p:nvPr/>
        </p:nvSpPr>
        <p:spPr>
          <a:xfrm>
            <a:off x="2103120" y="1005840"/>
            <a:ext cx="1554480" cy="1234440"/>
          </a:xfrm>
          <a:prstGeom prst="rect">
            <a:avLst/>
          </a:prstGeom>
          <a:solidFill>
            <a:srgbClr val="0D9488"/>
          </a:solidFill>
          <a:ln/>
          <a:effectLst>
            <a:outerShdw sx="100000" sy="100000" kx="0" ky="0" algn="bl" rotWithShape="0" blurRad="101600" dist="38100" dir="8100000">
              <a:srgbClr val="000000">
                <a:alpha val="12000"/>
              </a:srgbClr>
            </a:outerShdw>
          </a:effectLst>
        </p:spPr>
      </p:sp>
      <p:sp>
        <p:nvSpPr>
          <p:cNvPr id="8" name="Text 6"/>
          <p:cNvSpPr/>
          <p:nvPr/>
        </p:nvSpPr>
        <p:spPr>
          <a:xfrm>
            <a:off x="2103120" y="1051560"/>
            <a:ext cx="1554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Drop Nulls</a:t>
            </a:r>
            <a:endParaRPr lang="en-US" sz="1100" dirty="0"/>
          </a:p>
        </p:txBody>
      </p:sp>
      <p:sp>
        <p:nvSpPr>
          <p:cNvPr id="9" name="Text 7"/>
          <p:cNvSpPr/>
          <p:nvPr/>
        </p:nvSpPr>
        <p:spPr>
          <a:xfrm>
            <a:off x="2103120" y="1463040"/>
            <a:ext cx="1554480" cy="64008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–1,454 rows</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no product name</a:t>
            </a:r>
            <a:endParaRPr lang="en-US" sz="950" dirty="0"/>
          </a:p>
        </p:txBody>
      </p:sp>
      <p:sp>
        <p:nvSpPr>
          <p:cNvPr id="10" name="Shape 8"/>
          <p:cNvSpPr/>
          <p:nvPr/>
        </p:nvSpPr>
        <p:spPr>
          <a:xfrm>
            <a:off x="3657600" y="1463040"/>
            <a:ext cx="228600" cy="73152"/>
          </a:xfrm>
          <a:prstGeom prst="rect">
            <a:avLst/>
          </a:prstGeom>
          <a:solidFill>
            <a:srgbClr val="94A3B8"/>
          </a:solidFill>
          <a:ln/>
        </p:spPr>
      </p:sp>
      <p:sp>
        <p:nvSpPr>
          <p:cNvPr id="11" name="Shape 9"/>
          <p:cNvSpPr/>
          <p:nvPr/>
        </p:nvSpPr>
        <p:spPr>
          <a:xfrm>
            <a:off x="3886200" y="1005840"/>
            <a:ext cx="1554480" cy="1234440"/>
          </a:xfrm>
          <a:prstGeom prst="rect">
            <a:avLst/>
          </a:prstGeom>
          <a:solidFill>
            <a:srgbClr val="0D9488"/>
          </a:solidFill>
          <a:ln/>
          <a:effectLst>
            <a:outerShdw sx="100000" sy="100000" kx="0" ky="0" algn="bl" rotWithShape="0" blurRad="101600" dist="38100" dir="8100000">
              <a:srgbClr val="000000">
                <a:alpha val="12000"/>
              </a:srgbClr>
            </a:outerShdw>
          </a:effectLst>
        </p:spPr>
      </p:sp>
      <p:sp>
        <p:nvSpPr>
          <p:cNvPr id="12" name="Text 10"/>
          <p:cNvSpPr/>
          <p:nvPr/>
        </p:nvSpPr>
        <p:spPr>
          <a:xfrm>
            <a:off x="3886200" y="1051560"/>
            <a:ext cx="1554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Remove Cancels</a:t>
            </a:r>
            <a:endParaRPr lang="en-US" sz="1100" dirty="0"/>
          </a:p>
        </p:txBody>
      </p:sp>
      <p:sp>
        <p:nvSpPr>
          <p:cNvPr id="13" name="Text 11"/>
          <p:cNvSpPr/>
          <p:nvPr/>
        </p:nvSpPr>
        <p:spPr>
          <a:xfrm>
            <a:off x="3886200" y="1463040"/>
            <a:ext cx="1554480" cy="64008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Invoices with 'C'</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are returns</a:t>
            </a:r>
            <a:endParaRPr lang="en-US" sz="950" dirty="0"/>
          </a:p>
        </p:txBody>
      </p:sp>
      <p:sp>
        <p:nvSpPr>
          <p:cNvPr id="14" name="Shape 12"/>
          <p:cNvSpPr/>
          <p:nvPr/>
        </p:nvSpPr>
        <p:spPr>
          <a:xfrm>
            <a:off x="5440680" y="1463040"/>
            <a:ext cx="228600" cy="73152"/>
          </a:xfrm>
          <a:prstGeom prst="rect">
            <a:avLst/>
          </a:prstGeom>
          <a:solidFill>
            <a:srgbClr val="94A3B8"/>
          </a:solidFill>
          <a:ln/>
        </p:spPr>
      </p:sp>
      <p:sp>
        <p:nvSpPr>
          <p:cNvPr id="15" name="Shape 13"/>
          <p:cNvSpPr/>
          <p:nvPr/>
        </p:nvSpPr>
        <p:spPr>
          <a:xfrm>
            <a:off x="5669280" y="1005840"/>
            <a:ext cx="1554480" cy="1234440"/>
          </a:xfrm>
          <a:prstGeom prst="rect">
            <a:avLst/>
          </a:prstGeom>
          <a:solidFill>
            <a:srgbClr val="0D9488"/>
          </a:solidFill>
          <a:ln/>
          <a:effectLst>
            <a:outerShdw sx="100000" sy="100000" kx="0" ky="0" algn="bl" rotWithShape="0" blurRad="101600" dist="38100" dir="8100000">
              <a:srgbClr val="000000">
                <a:alpha val="12000"/>
              </a:srgbClr>
            </a:outerShdw>
          </a:effectLst>
        </p:spPr>
      </p:sp>
      <p:sp>
        <p:nvSpPr>
          <p:cNvPr id="16" name="Text 14"/>
          <p:cNvSpPr/>
          <p:nvPr/>
        </p:nvSpPr>
        <p:spPr>
          <a:xfrm>
            <a:off x="5669280" y="1051560"/>
            <a:ext cx="1554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UK Only</a:t>
            </a:r>
            <a:endParaRPr lang="en-US" sz="1100" dirty="0"/>
          </a:p>
        </p:txBody>
      </p:sp>
      <p:sp>
        <p:nvSpPr>
          <p:cNvPr id="17" name="Text 15"/>
          <p:cNvSpPr/>
          <p:nvPr/>
        </p:nvSpPr>
        <p:spPr>
          <a:xfrm>
            <a:off x="5669280" y="1463040"/>
            <a:ext cx="1554480" cy="64008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91.5% of data</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coherent market</a:t>
            </a:r>
            <a:endParaRPr lang="en-US" sz="950" dirty="0"/>
          </a:p>
        </p:txBody>
      </p:sp>
      <p:sp>
        <p:nvSpPr>
          <p:cNvPr id="18" name="Shape 16"/>
          <p:cNvSpPr/>
          <p:nvPr/>
        </p:nvSpPr>
        <p:spPr>
          <a:xfrm>
            <a:off x="7223760" y="1463040"/>
            <a:ext cx="228600" cy="73152"/>
          </a:xfrm>
          <a:prstGeom prst="rect">
            <a:avLst/>
          </a:prstGeom>
          <a:solidFill>
            <a:srgbClr val="94A3B8"/>
          </a:solidFill>
          <a:ln/>
        </p:spPr>
      </p:sp>
      <p:sp>
        <p:nvSpPr>
          <p:cNvPr id="19" name="Shape 17"/>
          <p:cNvSpPr/>
          <p:nvPr/>
        </p:nvSpPr>
        <p:spPr>
          <a:xfrm>
            <a:off x="7452360" y="1005840"/>
            <a:ext cx="1554480" cy="1234440"/>
          </a:xfrm>
          <a:prstGeom prst="rect">
            <a:avLst/>
          </a:prstGeom>
          <a:solidFill>
            <a:srgbClr val="F59E0B"/>
          </a:solidFill>
          <a:ln/>
          <a:effectLst>
            <a:outerShdw sx="100000" sy="100000" kx="0" ky="0" algn="bl" rotWithShape="0" blurRad="101600" dist="38100" dir="8100000">
              <a:srgbClr val="000000">
                <a:alpha val="12000"/>
              </a:srgbClr>
            </a:outerShdw>
          </a:effectLst>
        </p:spPr>
      </p:sp>
      <p:sp>
        <p:nvSpPr>
          <p:cNvPr id="20" name="Text 18"/>
          <p:cNvSpPr/>
          <p:nvPr/>
        </p:nvSpPr>
        <p:spPr>
          <a:xfrm>
            <a:off x="7452360" y="1051560"/>
            <a:ext cx="1554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Clean Dataset</a:t>
            </a:r>
            <a:endParaRPr lang="en-US" sz="1100" dirty="0"/>
          </a:p>
        </p:txBody>
      </p:sp>
      <p:sp>
        <p:nvSpPr>
          <p:cNvPr id="21" name="Text 19"/>
          <p:cNvSpPr/>
          <p:nvPr/>
        </p:nvSpPr>
        <p:spPr>
          <a:xfrm>
            <a:off x="7452360" y="1463040"/>
            <a:ext cx="1554480" cy="64008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531,167 rows</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18,668 invoices</a:t>
            </a:r>
            <a:endParaRPr lang="en-US" sz="950" dirty="0"/>
          </a:p>
        </p:txBody>
      </p:sp>
      <p:sp>
        <p:nvSpPr>
          <p:cNvPr id="22" name="Text 20"/>
          <p:cNvSpPr/>
          <p:nvPr/>
        </p:nvSpPr>
        <p:spPr>
          <a:xfrm>
            <a:off x="457200" y="2468880"/>
            <a:ext cx="8229600" cy="411480"/>
          </a:xfrm>
          <a:prstGeom prst="rect">
            <a:avLst/>
          </a:prstGeom>
          <a:noFill/>
          <a:ln/>
        </p:spPr>
        <p:txBody>
          <a:bodyPr wrap="square" lIns="0" tIns="0" rIns="0" bIns="0" rtlCol="0" anchor="ctr"/>
          <a:lstStyle/>
          <a:p>
            <a:pPr indent="0" marL="0">
              <a:buNone/>
            </a:pPr>
            <a:r>
              <a:rPr lang="en-US" sz="1600" b="1" dirty="0">
                <a:solidFill>
                  <a:srgbClr val="0F2B46"/>
                </a:solidFill>
                <a:latin typeface="Calibri" pitchFamily="34" charset="0"/>
                <a:ea typeface="Calibri" pitchFamily="34" charset="-122"/>
                <a:cs typeface="Calibri" pitchFamily="34" charset="-120"/>
              </a:rPr>
              <a:t>Key Cleaning Decisions</a:t>
            </a:r>
            <a:endParaRPr lang="en-US" sz="1600" dirty="0"/>
          </a:p>
        </p:txBody>
      </p:sp>
      <p:sp>
        <p:nvSpPr>
          <p:cNvPr id="23" name="Shape 21"/>
          <p:cNvSpPr/>
          <p:nvPr/>
        </p:nvSpPr>
        <p:spPr>
          <a:xfrm>
            <a:off x="457200" y="2971800"/>
            <a:ext cx="2743200" cy="19202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4" name="Shape 22"/>
          <p:cNvSpPr/>
          <p:nvPr/>
        </p:nvSpPr>
        <p:spPr>
          <a:xfrm>
            <a:off x="457200" y="2971800"/>
            <a:ext cx="64008" cy="1920240"/>
          </a:xfrm>
          <a:prstGeom prst="rect">
            <a:avLst/>
          </a:prstGeom>
          <a:solidFill>
            <a:srgbClr val="0D9488"/>
          </a:solidFill>
          <a:ln/>
        </p:spPr>
      </p:sp>
      <p:sp>
        <p:nvSpPr>
          <p:cNvPr id="25" name="Text 23"/>
          <p:cNvSpPr/>
          <p:nvPr/>
        </p:nvSpPr>
        <p:spPr>
          <a:xfrm>
            <a:off x="594360" y="3035808"/>
            <a:ext cx="2514600" cy="457200"/>
          </a:xfrm>
          <a:prstGeom prst="rect">
            <a:avLst/>
          </a:prstGeom>
          <a:noFill/>
          <a:ln/>
        </p:spPr>
        <p:txBody>
          <a:bodyPr wrap="square" lIns="0" tIns="0" rIns="0" bIns="0" rtlCol="0" anchor="ctr"/>
          <a:lstStyle/>
          <a:p>
            <a:pPr indent="0" marL="0">
              <a:buNone/>
            </a:pPr>
            <a:r>
              <a:rPr lang="en-US" sz="1100" b="1" dirty="0">
                <a:solidFill>
                  <a:srgbClr val="0F2B46"/>
                </a:solidFill>
                <a:latin typeface="Calibri" pitchFamily="34" charset="0"/>
                <a:ea typeface="Calibri" pitchFamily="34" charset="-122"/>
                <a:cs typeface="Calibri" pitchFamily="34" charset="-120"/>
              </a:rPr>
              <a:t>Normalized whitespace with regex</a:t>
            </a:r>
            <a:endParaRPr lang="en-US" sz="1100" dirty="0"/>
          </a:p>
        </p:txBody>
      </p:sp>
      <p:sp>
        <p:nvSpPr>
          <p:cNvPr id="26" name="Text 24"/>
          <p:cNvSpPr/>
          <p:nvPr/>
        </p:nvSpPr>
        <p:spPr>
          <a:xfrm>
            <a:off x="594360" y="3493008"/>
            <a:ext cx="2514600" cy="12801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re.sub(r'\s+', ' ', x).strip() — prevents 'TEACUP ' and 'TEACUP' being treated as different products</a:t>
            </a:r>
            <a:endParaRPr lang="en-US" sz="1000" dirty="0"/>
          </a:p>
        </p:txBody>
      </p:sp>
      <p:sp>
        <p:nvSpPr>
          <p:cNvPr id="27" name="Shape 25"/>
          <p:cNvSpPr/>
          <p:nvPr/>
        </p:nvSpPr>
        <p:spPr>
          <a:xfrm>
            <a:off x="3383280" y="2971800"/>
            <a:ext cx="2743200" cy="19202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8" name="Shape 26"/>
          <p:cNvSpPr/>
          <p:nvPr/>
        </p:nvSpPr>
        <p:spPr>
          <a:xfrm>
            <a:off x="3383280" y="2971800"/>
            <a:ext cx="64008" cy="1920240"/>
          </a:xfrm>
          <a:prstGeom prst="rect">
            <a:avLst/>
          </a:prstGeom>
          <a:solidFill>
            <a:srgbClr val="0D9488"/>
          </a:solidFill>
          <a:ln/>
        </p:spPr>
      </p:sp>
      <p:sp>
        <p:nvSpPr>
          <p:cNvPr id="29" name="Text 27"/>
          <p:cNvSpPr/>
          <p:nvPr/>
        </p:nvSpPr>
        <p:spPr>
          <a:xfrm>
            <a:off x="3520440" y="3035808"/>
            <a:ext cx="2514600" cy="457200"/>
          </a:xfrm>
          <a:prstGeom prst="rect">
            <a:avLst/>
          </a:prstGeom>
          <a:noFill/>
          <a:ln/>
        </p:spPr>
        <p:txBody>
          <a:bodyPr wrap="square" lIns="0" tIns="0" rIns="0" bIns="0" rtlCol="0" anchor="ctr"/>
          <a:lstStyle/>
          <a:p>
            <a:pPr indent="0" marL="0">
              <a:buNone/>
            </a:pPr>
            <a:r>
              <a:rPr lang="en-US" sz="1100" b="1" dirty="0">
                <a:solidFill>
                  <a:srgbClr val="0F2B46"/>
                </a:solidFill>
                <a:latin typeface="Calibri" pitchFamily="34" charset="0"/>
                <a:ea typeface="Calibri" pitchFamily="34" charset="-122"/>
                <a:cs typeface="Calibri" pitchFamily="34" charset="-120"/>
              </a:rPr>
              <a:t>Binarized quantities</a:t>
            </a:r>
            <a:endParaRPr lang="en-US" sz="1100" dirty="0"/>
          </a:p>
        </p:txBody>
      </p:sp>
      <p:sp>
        <p:nvSpPr>
          <p:cNvPr id="30" name="Text 28"/>
          <p:cNvSpPr/>
          <p:nvPr/>
        </p:nvSpPr>
        <p:spPr>
          <a:xfrm>
            <a:off x="3520440" y="3493008"/>
            <a:ext cx="2514600" cy="12801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Whether a product appeared in a basket matters — not how many units. 1 unit = 1 case of 12 = both treated as '1'</a:t>
            </a:r>
            <a:endParaRPr lang="en-US" sz="1000" dirty="0"/>
          </a:p>
        </p:txBody>
      </p:sp>
      <p:sp>
        <p:nvSpPr>
          <p:cNvPr id="31" name="Shape 29"/>
          <p:cNvSpPr/>
          <p:nvPr/>
        </p:nvSpPr>
        <p:spPr>
          <a:xfrm>
            <a:off x="6309360" y="2971800"/>
            <a:ext cx="2743200" cy="19202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2" name="Shape 30"/>
          <p:cNvSpPr/>
          <p:nvPr/>
        </p:nvSpPr>
        <p:spPr>
          <a:xfrm>
            <a:off x="6309360" y="2971800"/>
            <a:ext cx="64008" cy="1920240"/>
          </a:xfrm>
          <a:prstGeom prst="rect">
            <a:avLst/>
          </a:prstGeom>
          <a:solidFill>
            <a:srgbClr val="0D9488"/>
          </a:solidFill>
          <a:ln/>
        </p:spPr>
      </p:sp>
      <p:sp>
        <p:nvSpPr>
          <p:cNvPr id="33" name="Text 31"/>
          <p:cNvSpPr/>
          <p:nvPr/>
        </p:nvSpPr>
        <p:spPr>
          <a:xfrm>
            <a:off x="6446520" y="3035808"/>
            <a:ext cx="2514600" cy="457200"/>
          </a:xfrm>
          <a:prstGeom prst="rect">
            <a:avLst/>
          </a:prstGeom>
          <a:noFill/>
          <a:ln/>
        </p:spPr>
        <p:txBody>
          <a:bodyPr wrap="square" lIns="0" tIns="0" rIns="0" bIns="0" rtlCol="0" anchor="ctr"/>
          <a:lstStyle/>
          <a:p>
            <a:pPr indent="0" marL="0">
              <a:buNone/>
            </a:pPr>
            <a:r>
              <a:rPr lang="en-US" sz="1100" b="1" dirty="0">
                <a:solidFill>
                  <a:srgbClr val="0F2B46"/>
                </a:solidFill>
                <a:latin typeface="Calibri" pitchFamily="34" charset="0"/>
                <a:ea typeface="Calibri" pitchFamily="34" charset="-122"/>
                <a:cs typeface="Calibri" pitchFamily="34" charset="-120"/>
              </a:rPr>
              <a:t>Excluded operational columns</a:t>
            </a:r>
            <a:endParaRPr lang="en-US" sz="1100" dirty="0"/>
          </a:p>
        </p:txBody>
      </p:sp>
      <p:sp>
        <p:nvSpPr>
          <p:cNvPr id="34" name="Text 32"/>
          <p:cNvSpPr/>
          <p:nvPr/>
        </p:nvSpPr>
        <p:spPr>
          <a:xfrm>
            <a:off x="6446520" y="3493008"/>
            <a:ext cx="2514600" cy="12801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POSTAGE, DOTCOM, CARRIAGE removed — not purchasable goods, would corrupt the rules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B46"/>
        </a:solidFill>
      </p:bgPr>
    </p:bg>
    <p:spTree>
      <p:nvGrpSpPr>
        <p:cNvPr id="1" name=""/>
        <p:cNvGrpSpPr/>
        <p:nvPr/>
      </p:nvGrpSpPr>
      <p:grpSpPr>
        <a:xfrm>
          <a:off x="0" y="0"/>
          <a:ext cx="0" cy="0"/>
          <a:chOff x="0" y="0"/>
          <a:chExt cx="0" cy="0"/>
        </a:xfrm>
      </p:grpSpPr>
      <p:sp>
        <p:nvSpPr>
          <p:cNvPr id="2" name="Text 0"/>
          <p:cNvSpPr/>
          <p:nvPr/>
        </p:nvSpPr>
        <p:spPr>
          <a:xfrm>
            <a:off x="457200" y="256032"/>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Mining Association Rules</a:t>
            </a:r>
            <a:endParaRPr lang="en-US" sz="3000" dirty="0"/>
          </a:p>
        </p:txBody>
      </p:sp>
      <p:sp>
        <p:nvSpPr>
          <p:cNvPr id="3" name="Shape 1"/>
          <p:cNvSpPr/>
          <p:nvPr/>
        </p:nvSpPr>
        <p:spPr>
          <a:xfrm>
            <a:off x="457200" y="914400"/>
            <a:ext cx="8229600" cy="36576"/>
          </a:xfrm>
          <a:prstGeom prst="rect">
            <a:avLst/>
          </a:prstGeom>
          <a:solidFill>
            <a:srgbClr val="0D9488"/>
          </a:solidFill>
          <a:ln/>
        </p:spPr>
      </p:sp>
      <p:sp>
        <p:nvSpPr>
          <p:cNvPr id="4" name="Shape 2"/>
          <p:cNvSpPr/>
          <p:nvPr/>
        </p:nvSpPr>
        <p:spPr>
          <a:xfrm>
            <a:off x="365760" y="1097280"/>
            <a:ext cx="2743200" cy="2560320"/>
          </a:xfrm>
          <a:prstGeom prst="rect">
            <a:avLst/>
          </a:prstGeom>
          <a:solidFill>
            <a:srgbClr val="0D9488">
              <a:alpha val="85000"/>
            </a:srgbClr>
          </a:solidFill>
          <a:ln/>
          <a:effectLst>
            <a:outerShdw sx="100000" sy="100000" kx="0" ky="0" algn="bl" rotWithShape="0" blurRad="101600" dist="38100" dir="8100000">
              <a:srgbClr val="000000">
                <a:alpha val="12000"/>
              </a:srgbClr>
            </a:outerShdw>
          </a:effectLst>
        </p:spPr>
      </p:sp>
      <p:sp>
        <p:nvSpPr>
          <p:cNvPr id="5" name="Text 3"/>
          <p:cNvSpPr/>
          <p:nvPr/>
        </p:nvSpPr>
        <p:spPr>
          <a:xfrm>
            <a:off x="365760" y="1170432"/>
            <a:ext cx="274320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Support</a:t>
            </a:r>
            <a:endParaRPr lang="en-US" sz="1800" dirty="0"/>
          </a:p>
        </p:txBody>
      </p:sp>
      <p:sp>
        <p:nvSpPr>
          <p:cNvPr id="6" name="Text 4"/>
          <p:cNvSpPr/>
          <p:nvPr/>
        </p:nvSpPr>
        <p:spPr>
          <a:xfrm>
            <a:off x="365760" y="1600200"/>
            <a:ext cx="2743200" cy="457200"/>
          </a:xfrm>
          <a:prstGeom prst="rect">
            <a:avLst/>
          </a:prstGeom>
          <a:noFill/>
          <a:ln/>
        </p:spPr>
        <p:txBody>
          <a:bodyPr wrap="square" lIns="0" tIns="0" rIns="0" bIns="0" rtlCol="0" anchor="ctr"/>
          <a:lstStyle/>
          <a:p>
            <a:pPr algn="ctr" indent="0" marL="0">
              <a:buNone/>
            </a:pPr>
            <a:r>
              <a:rPr lang="en-US" sz="1500" i="1" dirty="0">
                <a:solidFill>
                  <a:srgbClr val="CCFBF1"/>
                </a:solidFill>
                <a:latin typeface="Consolas" pitchFamily="34" charset="0"/>
                <a:ea typeface="Consolas" pitchFamily="34" charset="-122"/>
                <a:cs typeface="Consolas" pitchFamily="34" charset="-120"/>
              </a:rPr>
              <a:t>freq(A∪B) / N</a:t>
            </a:r>
            <a:endParaRPr lang="en-US" sz="1500" dirty="0"/>
          </a:p>
        </p:txBody>
      </p:sp>
      <p:sp>
        <p:nvSpPr>
          <p:cNvPr id="7" name="Text 5"/>
          <p:cNvSpPr/>
          <p:nvPr/>
        </p:nvSpPr>
        <p:spPr>
          <a:xfrm>
            <a:off x="457200" y="2103120"/>
            <a:ext cx="2560320" cy="8229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How often does this pair appear across ALL transactions?</a:t>
            </a:r>
            <a:endParaRPr lang="en-US" sz="1100" dirty="0"/>
          </a:p>
        </p:txBody>
      </p:sp>
      <p:sp>
        <p:nvSpPr>
          <p:cNvPr id="8" name="Shape 6"/>
          <p:cNvSpPr/>
          <p:nvPr/>
        </p:nvSpPr>
        <p:spPr>
          <a:xfrm>
            <a:off x="640080" y="3017520"/>
            <a:ext cx="2194560" cy="54864"/>
          </a:xfrm>
          <a:prstGeom prst="rect">
            <a:avLst/>
          </a:prstGeom>
          <a:solidFill>
            <a:srgbClr val="FFFFFF">
              <a:alpha val="40000"/>
            </a:srgbClr>
          </a:solidFill>
          <a:ln/>
        </p:spPr>
      </p:sp>
      <p:sp>
        <p:nvSpPr>
          <p:cNvPr id="9" name="Text 7"/>
          <p:cNvSpPr/>
          <p:nvPr/>
        </p:nvSpPr>
        <p:spPr>
          <a:xfrm>
            <a:off x="365760" y="3127248"/>
            <a:ext cx="2743200" cy="320040"/>
          </a:xfrm>
          <a:prstGeom prst="rect">
            <a:avLst/>
          </a:prstGeom>
          <a:noFill/>
          <a:ln/>
        </p:spPr>
        <p:txBody>
          <a:bodyPr wrap="square" lIns="0" tIns="0" rIns="0" bIns="0" rtlCol="0" anchor="ctr"/>
          <a:lstStyle/>
          <a:p>
            <a:pPr algn="ctr" indent="0" marL="0">
              <a:buNone/>
            </a:pPr>
            <a:r>
              <a:rPr lang="en-US" sz="950" i="1" dirty="0">
                <a:solidFill>
                  <a:srgbClr val="CCFBF1"/>
                </a:solidFill>
                <a:latin typeface="Calibri" pitchFamily="34" charset="0"/>
                <a:ea typeface="Calibri" pitchFamily="34" charset="-122"/>
                <a:cs typeface="Calibri" pitchFamily="34" charset="-120"/>
              </a:rPr>
              <a:t>≥ 1.5% threshold used</a:t>
            </a:r>
            <a:endParaRPr lang="en-US" sz="950" dirty="0"/>
          </a:p>
        </p:txBody>
      </p:sp>
      <p:sp>
        <p:nvSpPr>
          <p:cNvPr id="10" name="Shape 8"/>
          <p:cNvSpPr/>
          <p:nvPr/>
        </p:nvSpPr>
        <p:spPr>
          <a:xfrm>
            <a:off x="3291840" y="1097280"/>
            <a:ext cx="2743200" cy="2560320"/>
          </a:xfrm>
          <a:prstGeom prst="rect">
            <a:avLst/>
          </a:prstGeom>
          <a:solidFill>
            <a:srgbClr val="7C3AED">
              <a:alpha val="85000"/>
            </a:srgbClr>
          </a:solidFill>
          <a:ln/>
          <a:effectLst>
            <a:outerShdw sx="100000" sy="100000" kx="0" ky="0" algn="bl" rotWithShape="0" blurRad="101600" dist="38100" dir="8100000">
              <a:srgbClr val="000000">
                <a:alpha val="12000"/>
              </a:srgbClr>
            </a:outerShdw>
          </a:effectLst>
        </p:spPr>
      </p:sp>
      <p:sp>
        <p:nvSpPr>
          <p:cNvPr id="11" name="Text 9"/>
          <p:cNvSpPr/>
          <p:nvPr/>
        </p:nvSpPr>
        <p:spPr>
          <a:xfrm>
            <a:off x="3291840" y="1170432"/>
            <a:ext cx="274320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Confidence</a:t>
            </a:r>
            <a:endParaRPr lang="en-US" sz="1800" dirty="0"/>
          </a:p>
        </p:txBody>
      </p:sp>
      <p:sp>
        <p:nvSpPr>
          <p:cNvPr id="12" name="Text 10"/>
          <p:cNvSpPr/>
          <p:nvPr/>
        </p:nvSpPr>
        <p:spPr>
          <a:xfrm>
            <a:off x="3291840" y="1600200"/>
            <a:ext cx="2743200" cy="457200"/>
          </a:xfrm>
          <a:prstGeom prst="rect">
            <a:avLst/>
          </a:prstGeom>
          <a:noFill/>
          <a:ln/>
        </p:spPr>
        <p:txBody>
          <a:bodyPr wrap="square" lIns="0" tIns="0" rIns="0" bIns="0" rtlCol="0" anchor="ctr"/>
          <a:lstStyle/>
          <a:p>
            <a:pPr algn="ctr" indent="0" marL="0">
              <a:buNone/>
            </a:pPr>
            <a:r>
              <a:rPr lang="en-US" sz="1500" i="1" dirty="0">
                <a:solidFill>
                  <a:srgbClr val="CCFBF1"/>
                </a:solidFill>
                <a:latin typeface="Consolas" pitchFamily="34" charset="0"/>
                <a:ea typeface="Consolas" pitchFamily="34" charset="-122"/>
                <a:cs typeface="Consolas" pitchFamily="34" charset="-120"/>
              </a:rPr>
              <a:t>P(B | A)</a:t>
            </a:r>
            <a:endParaRPr lang="en-US" sz="1500" dirty="0"/>
          </a:p>
        </p:txBody>
      </p:sp>
      <p:sp>
        <p:nvSpPr>
          <p:cNvPr id="13" name="Text 11"/>
          <p:cNvSpPr/>
          <p:nvPr/>
        </p:nvSpPr>
        <p:spPr>
          <a:xfrm>
            <a:off x="3383280" y="2103120"/>
            <a:ext cx="2560320" cy="8229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When A is bought, how often is B also bought?</a:t>
            </a:r>
            <a:endParaRPr lang="en-US" sz="1100" dirty="0"/>
          </a:p>
        </p:txBody>
      </p:sp>
      <p:sp>
        <p:nvSpPr>
          <p:cNvPr id="14" name="Shape 12"/>
          <p:cNvSpPr/>
          <p:nvPr/>
        </p:nvSpPr>
        <p:spPr>
          <a:xfrm>
            <a:off x="3566160" y="3017520"/>
            <a:ext cx="2194560" cy="54864"/>
          </a:xfrm>
          <a:prstGeom prst="rect">
            <a:avLst/>
          </a:prstGeom>
          <a:solidFill>
            <a:srgbClr val="FFFFFF">
              <a:alpha val="40000"/>
            </a:srgbClr>
          </a:solidFill>
          <a:ln/>
        </p:spPr>
      </p:sp>
      <p:sp>
        <p:nvSpPr>
          <p:cNvPr id="15" name="Text 13"/>
          <p:cNvSpPr/>
          <p:nvPr/>
        </p:nvSpPr>
        <p:spPr>
          <a:xfrm>
            <a:off x="3291840" y="3127248"/>
            <a:ext cx="2743200" cy="320040"/>
          </a:xfrm>
          <a:prstGeom prst="rect">
            <a:avLst/>
          </a:prstGeom>
          <a:noFill/>
          <a:ln/>
        </p:spPr>
        <p:txBody>
          <a:bodyPr wrap="square" lIns="0" tIns="0" rIns="0" bIns="0" rtlCol="0" anchor="ctr"/>
          <a:lstStyle/>
          <a:p>
            <a:pPr algn="ctr" indent="0" marL="0">
              <a:buNone/>
            </a:pPr>
            <a:r>
              <a:rPr lang="en-US" sz="950" i="1" dirty="0">
                <a:solidFill>
                  <a:srgbClr val="CCFBF1"/>
                </a:solidFill>
                <a:latin typeface="Calibri" pitchFamily="34" charset="0"/>
                <a:ea typeface="Calibri" pitchFamily="34" charset="-122"/>
                <a:cs typeface="Calibri" pitchFamily="34" charset="-120"/>
              </a:rPr>
              <a:t>Used for 'Bought Together'</a:t>
            </a:r>
            <a:endParaRPr lang="en-US" sz="950" dirty="0"/>
          </a:p>
        </p:txBody>
      </p:sp>
      <p:sp>
        <p:nvSpPr>
          <p:cNvPr id="16" name="Shape 14"/>
          <p:cNvSpPr/>
          <p:nvPr/>
        </p:nvSpPr>
        <p:spPr>
          <a:xfrm>
            <a:off x="6217920" y="1097280"/>
            <a:ext cx="2743200" cy="2560320"/>
          </a:xfrm>
          <a:prstGeom prst="rect">
            <a:avLst/>
          </a:prstGeom>
          <a:solidFill>
            <a:srgbClr val="F59E0B">
              <a:alpha val="85000"/>
            </a:srgbClr>
          </a:solidFill>
          <a:ln/>
          <a:effectLst>
            <a:outerShdw sx="100000" sy="100000" kx="0" ky="0" algn="bl" rotWithShape="0" blurRad="101600" dist="38100" dir="8100000">
              <a:srgbClr val="000000">
                <a:alpha val="12000"/>
              </a:srgbClr>
            </a:outerShdw>
          </a:effectLst>
        </p:spPr>
      </p:sp>
      <p:sp>
        <p:nvSpPr>
          <p:cNvPr id="17" name="Text 15"/>
          <p:cNvSpPr/>
          <p:nvPr/>
        </p:nvSpPr>
        <p:spPr>
          <a:xfrm>
            <a:off x="6217920" y="1170432"/>
            <a:ext cx="274320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Lift</a:t>
            </a:r>
            <a:endParaRPr lang="en-US" sz="1800" dirty="0"/>
          </a:p>
        </p:txBody>
      </p:sp>
      <p:sp>
        <p:nvSpPr>
          <p:cNvPr id="18" name="Text 16"/>
          <p:cNvSpPr/>
          <p:nvPr/>
        </p:nvSpPr>
        <p:spPr>
          <a:xfrm>
            <a:off x="6217920" y="1600200"/>
            <a:ext cx="2743200" cy="457200"/>
          </a:xfrm>
          <a:prstGeom prst="rect">
            <a:avLst/>
          </a:prstGeom>
          <a:noFill/>
          <a:ln/>
        </p:spPr>
        <p:txBody>
          <a:bodyPr wrap="square" lIns="0" tIns="0" rIns="0" bIns="0" rtlCol="0" anchor="ctr"/>
          <a:lstStyle/>
          <a:p>
            <a:pPr algn="ctr" indent="0" marL="0">
              <a:buNone/>
            </a:pPr>
            <a:r>
              <a:rPr lang="en-US" sz="1500" i="1" dirty="0">
                <a:solidFill>
                  <a:srgbClr val="CCFBF1"/>
                </a:solidFill>
                <a:latin typeface="Consolas" pitchFamily="34" charset="0"/>
                <a:ea typeface="Consolas" pitchFamily="34" charset="-122"/>
                <a:cs typeface="Consolas" pitchFamily="34" charset="-120"/>
              </a:rPr>
              <a:t>Conf / P(B)</a:t>
            </a:r>
            <a:endParaRPr lang="en-US" sz="1500" dirty="0"/>
          </a:p>
        </p:txBody>
      </p:sp>
      <p:sp>
        <p:nvSpPr>
          <p:cNvPr id="19" name="Text 17"/>
          <p:cNvSpPr/>
          <p:nvPr/>
        </p:nvSpPr>
        <p:spPr>
          <a:xfrm>
            <a:off x="6309360" y="2103120"/>
            <a:ext cx="2560320" cy="8229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Is this pair more likely than random chance? &gt;1 means yes.</a:t>
            </a:r>
            <a:endParaRPr lang="en-US" sz="1100" dirty="0"/>
          </a:p>
        </p:txBody>
      </p:sp>
      <p:sp>
        <p:nvSpPr>
          <p:cNvPr id="20" name="Shape 18"/>
          <p:cNvSpPr/>
          <p:nvPr/>
        </p:nvSpPr>
        <p:spPr>
          <a:xfrm>
            <a:off x="6492240" y="3017520"/>
            <a:ext cx="2194560" cy="54864"/>
          </a:xfrm>
          <a:prstGeom prst="rect">
            <a:avLst/>
          </a:prstGeom>
          <a:solidFill>
            <a:srgbClr val="FFFFFF">
              <a:alpha val="40000"/>
            </a:srgbClr>
          </a:solidFill>
          <a:ln/>
        </p:spPr>
      </p:sp>
      <p:sp>
        <p:nvSpPr>
          <p:cNvPr id="21" name="Text 19"/>
          <p:cNvSpPr/>
          <p:nvPr/>
        </p:nvSpPr>
        <p:spPr>
          <a:xfrm>
            <a:off x="6217920" y="3127248"/>
            <a:ext cx="2743200" cy="320040"/>
          </a:xfrm>
          <a:prstGeom prst="rect">
            <a:avLst/>
          </a:prstGeom>
          <a:noFill/>
          <a:ln/>
        </p:spPr>
        <p:txBody>
          <a:bodyPr wrap="square" lIns="0" tIns="0" rIns="0" bIns="0" rtlCol="0" anchor="ctr"/>
          <a:lstStyle/>
          <a:p>
            <a:pPr algn="ctr" indent="0" marL="0">
              <a:buNone/>
            </a:pPr>
            <a:r>
              <a:rPr lang="en-US" sz="950" i="1" dirty="0">
                <a:solidFill>
                  <a:srgbClr val="CCFBF1"/>
                </a:solidFill>
                <a:latin typeface="Calibri" pitchFamily="34" charset="0"/>
                <a:ea typeface="Calibri" pitchFamily="34" charset="-122"/>
                <a:cs typeface="Calibri" pitchFamily="34" charset="-120"/>
              </a:rPr>
              <a:t>Used for Cross-Sell</a:t>
            </a:r>
            <a:endParaRPr lang="en-US" sz="950" dirty="0"/>
          </a:p>
        </p:txBody>
      </p:sp>
      <p:sp>
        <p:nvSpPr>
          <p:cNvPr id="22" name="Shape 20"/>
          <p:cNvSpPr/>
          <p:nvPr/>
        </p:nvSpPr>
        <p:spPr>
          <a:xfrm>
            <a:off x="457200" y="3840480"/>
            <a:ext cx="8229600" cy="1005840"/>
          </a:xfrm>
          <a:prstGeom prst="rect">
            <a:avLst/>
          </a:prstGeom>
          <a:solidFill>
            <a:srgbClr val="0D9488">
              <a:alpha val="20000"/>
            </a:srgbClr>
          </a:solidFill>
          <a:ln/>
          <a:effectLst>
            <a:outerShdw sx="100000" sy="100000" kx="0" ky="0" algn="bl" rotWithShape="0" blurRad="101600" dist="38100" dir="8100000">
              <a:srgbClr val="000000">
                <a:alpha val="12000"/>
              </a:srgbClr>
            </a:outerShdw>
          </a:effectLst>
        </p:spPr>
      </p:sp>
      <p:sp>
        <p:nvSpPr>
          <p:cNvPr id="23" name="Text 21"/>
          <p:cNvSpPr/>
          <p:nvPr/>
        </p:nvSpPr>
        <p:spPr>
          <a:xfrm>
            <a:off x="594360" y="3886200"/>
            <a:ext cx="7955280" cy="914400"/>
          </a:xfrm>
          <a:prstGeom prst="rect">
            <a:avLst/>
          </a:prstGeom>
          <a:noFill/>
          <a:ln/>
        </p:spPr>
        <p:txBody>
          <a:bodyPr wrap="square" lIns="0" tIns="0" rIns="0" bIns="0" rtlCol="0" anchor="ctr"/>
          <a:lstStyle/>
          <a:p>
            <a:pPr indent="0" marL="0">
              <a:buNone/>
            </a:pPr>
            <a:r>
              <a:rPr lang="en-US" sz="1100" b="1" dirty="0">
                <a:solidFill>
                  <a:srgbClr val="14B8A6"/>
                </a:solidFill>
                <a:latin typeface="Calibri" pitchFamily="34" charset="0"/>
                <a:ea typeface="Calibri" pitchFamily="34" charset="-122"/>
                <a:cs typeface="Calibri" pitchFamily="34" charset="-120"/>
              </a:rPr>
              <a:t>Algorithm journey:  </a:t>
            </a:r>
            <a:pPr indent="0" marL="0">
              <a:buNone/>
            </a:pPr>
            <a:r>
              <a:rPr lang="en-US" sz="1100" dirty="0">
                <a:solidFill>
                  <a:srgbClr val="FFFFFF"/>
                </a:solidFill>
                <a:latin typeface="Calibri" pitchFamily="34" charset="0"/>
                <a:ea typeface="Calibri" pitchFamily="34" charset="-122"/>
                <a:cs typeface="Calibri" pitchFamily="34" charset="-120"/>
              </a:rPr>
              <a:t>Started with Apriori at 2% support → 155 rules. Too few products covered. Lowered to 1.5% but Apriori hit memory limits on 18K×4K matrix → switched to </a:t>
            </a:r>
            <a:pPr indent="0" marL="0">
              <a:buNone/>
            </a:pPr>
            <a:r>
              <a:rPr lang="en-US" sz="1100" b="1" dirty="0">
                <a:solidFill>
                  <a:srgbClr val="F59E0B"/>
                </a:solidFill>
                <a:latin typeface="Calibri" pitchFamily="34" charset="0"/>
                <a:ea typeface="Calibri" pitchFamily="34" charset="-122"/>
                <a:cs typeface="Calibri" pitchFamily="34" charset="-120"/>
              </a:rPr>
              <a:t>FP-Growth</a:t>
            </a:r>
            <a:pPr indent="0" marL="0">
              <a:buNone/>
            </a:pPr>
            <a:r>
              <a:rPr lang="en-US" sz="1100" dirty="0">
                <a:solidFill>
                  <a:srgbClr val="FFFFFF"/>
                </a:solidFill>
                <a:latin typeface="Calibri" pitchFamily="34" charset="0"/>
                <a:ea typeface="Calibri" pitchFamily="34" charset="-122"/>
                <a:cs typeface="Calibri" pitchFamily="34" charset="-120"/>
              </a:rPr>
              <a:t> (same rules, compressed tree = no memory crash) → 2,795 rules, 241 products covered.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indent="0" marL="0">
              <a:buNone/>
            </a:pPr>
            <a:r>
              <a:rPr lang="en-US" sz="2800" b="1" dirty="0">
                <a:solidFill>
                  <a:srgbClr val="0F2B46"/>
                </a:solidFill>
                <a:latin typeface="Calibri" pitchFamily="34" charset="0"/>
                <a:ea typeface="Calibri" pitchFamily="34" charset="-122"/>
                <a:cs typeface="Calibri" pitchFamily="34" charset="-120"/>
              </a:rPr>
              <a:t>What the Data Actually Said</a:t>
            </a:r>
            <a:endParaRPr lang="en-US" sz="2800" dirty="0"/>
          </a:p>
        </p:txBody>
      </p:sp>
      <p:sp>
        <p:nvSpPr>
          <p:cNvPr id="3" name="Shape 1"/>
          <p:cNvSpPr/>
          <p:nvPr/>
        </p:nvSpPr>
        <p:spPr>
          <a:xfrm>
            <a:off x="457200" y="960120"/>
            <a:ext cx="5394960" cy="1371600"/>
          </a:xfrm>
          <a:prstGeom prst="rect">
            <a:avLst/>
          </a:prstGeom>
          <a:solidFill>
            <a:srgbClr val="0F2B46"/>
          </a:solidFill>
          <a:ln/>
          <a:effectLst>
            <a:outerShdw sx="100000" sy="100000" kx="0" ky="0" algn="bl" rotWithShape="0" blurRad="101600" dist="38100" dir="8100000">
              <a:srgbClr val="000000">
                <a:alpha val="12000"/>
              </a:srgbClr>
            </a:outerShdw>
          </a:effectLst>
        </p:spPr>
      </p:sp>
      <p:sp>
        <p:nvSpPr>
          <p:cNvPr id="4" name="Text 2"/>
          <p:cNvSpPr/>
          <p:nvPr/>
        </p:nvSpPr>
        <p:spPr>
          <a:xfrm>
            <a:off x="548640" y="1005840"/>
            <a:ext cx="5212080" cy="320040"/>
          </a:xfrm>
          <a:prstGeom prst="rect">
            <a:avLst/>
          </a:prstGeom>
          <a:noFill/>
          <a:ln/>
        </p:spPr>
        <p:txBody>
          <a:bodyPr wrap="square" lIns="0" tIns="0" rIns="0" bIns="0" rtlCol="0" anchor="ctr"/>
          <a:lstStyle/>
          <a:p>
            <a:pPr indent="0" marL="0">
              <a:buNone/>
            </a:pPr>
            <a:r>
              <a:rPr lang="en-US" sz="1100" b="1" dirty="0">
                <a:solidFill>
                  <a:srgbClr val="14B8A6"/>
                </a:solidFill>
                <a:latin typeface="Calibri" pitchFamily="34" charset="0"/>
                <a:ea typeface="Calibri" pitchFamily="34" charset="-122"/>
                <a:cs typeface="Calibri" pitchFamily="34" charset="-120"/>
              </a:rPr>
              <a:t>Top Rule by Lift</a:t>
            </a:r>
            <a:endParaRPr lang="en-US" sz="1100" dirty="0"/>
          </a:p>
        </p:txBody>
      </p:sp>
      <p:sp>
        <p:nvSpPr>
          <p:cNvPr id="5" name="Text 3"/>
          <p:cNvSpPr/>
          <p:nvPr/>
        </p:nvSpPr>
        <p:spPr>
          <a:xfrm>
            <a:off x="548640" y="1325880"/>
            <a:ext cx="5212080" cy="41148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PINK REGENCY TEACUP  →  GREEN + ROSES REGENCY TEACUP</a:t>
            </a:r>
            <a:endParaRPr lang="en-US" sz="1250" dirty="0"/>
          </a:p>
        </p:txBody>
      </p:sp>
      <p:sp>
        <p:nvSpPr>
          <p:cNvPr id="6" name="Text 4"/>
          <p:cNvSpPr/>
          <p:nvPr/>
        </p:nvSpPr>
        <p:spPr>
          <a:xfrm>
            <a:off x="548640" y="1737360"/>
            <a:ext cx="5212080" cy="411480"/>
          </a:xfrm>
          <a:prstGeom prst="rect">
            <a:avLst/>
          </a:prstGeom>
          <a:noFill/>
          <a:ln/>
        </p:spPr>
        <p:txBody>
          <a:bodyPr wrap="square" lIns="0" tIns="0" rIns="0" bIns="0" rtlCol="0" anchor="ctr"/>
          <a:lstStyle/>
          <a:p>
            <a:pPr indent="0" marL="0">
              <a:buNone/>
            </a:pPr>
            <a:r>
              <a:rPr lang="en-US" sz="1050" dirty="0">
                <a:solidFill>
                  <a:srgbClr val="F59E0B"/>
                </a:solidFill>
                <a:latin typeface="Calibri" pitchFamily="34" charset="0"/>
                <a:ea typeface="Calibri" pitchFamily="34" charset="-122"/>
                <a:cs typeface="Calibri" pitchFamily="34" charset="-120"/>
              </a:rPr>
              <a:t>Lift: 18.68×  |  These items are 18x more likely to be bought together than by chance</a:t>
            </a:r>
            <a:endParaRPr lang="en-US" sz="1050" dirty="0"/>
          </a:p>
        </p:txBody>
      </p:sp>
      <p:sp>
        <p:nvSpPr>
          <p:cNvPr id="7" name="Shape 5"/>
          <p:cNvSpPr/>
          <p:nvPr/>
        </p:nvSpPr>
        <p:spPr>
          <a:xfrm>
            <a:off x="5989320" y="960120"/>
            <a:ext cx="2834640" cy="1371600"/>
          </a:xfrm>
          <a:prstGeom prst="rect">
            <a:avLst/>
          </a:prstGeom>
          <a:solidFill>
            <a:srgbClr val="0D9488"/>
          </a:solidFill>
          <a:ln/>
          <a:effectLst>
            <a:outerShdw sx="100000" sy="100000" kx="0" ky="0" algn="bl" rotWithShape="0" blurRad="101600" dist="38100" dir="8100000">
              <a:srgbClr val="000000">
                <a:alpha val="12000"/>
              </a:srgbClr>
            </a:outerShdw>
          </a:effectLst>
        </p:spPr>
      </p:sp>
      <p:sp>
        <p:nvSpPr>
          <p:cNvPr id="8" name="Text 6"/>
          <p:cNvSpPr/>
          <p:nvPr/>
        </p:nvSpPr>
        <p:spPr>
          <a:xfrm>
            <a:off x="6080760" y="1005840"/>
            <a:ext cx="2651760" cy="320040"/>
          </a:xfrm>
          <a:prstGeom prst="rect">
            <a:avLst/>
          </a:prstGeom>
          <a:noFill/>
          <a:ln/>
        </p:spPr>
        <p:txBody>
          <a:bodyPr wrap="square" lIns="0" tIns="0" rIns="0" bIns="0" rtlCol="0" anchor="ctr"/>
          <a:lstStyle/>
          <a:p>
            <a:pPr indent="0" marL="0">
              <a:buNone/>
            </a:pPr>
            <a:r>
              <a:rPr lang="en-US" sz="1100" b="1" dirty="0">
                <a:solidFill>
                  <a:srgbClr val="0F2B46"/>
                </a:solidFill>
                <a:latin typeface="Calibri" pitchFamily="34" charset="0"/>
                <a:ea typeface="Calibri" pitchFamily="34" charset="-122"/>
                <a:cs typeface="Calibri" pitchFamily="34" charset="-120"/>
              </a:rPr>
              <a:t>The Behavioral Insight</a:t>
            </a:r>
            <a:endParaRPr lang="en-US" sz="1100" dirty="0"/>
          </a:p>
        </p:txBody>
      </p:sp>
      <p:sp>
        <p:nvSpPr>
          <p:cNvPr id="9" name="Text 7"/>
          <p:cNvSpPr/>
          <p:nvPr/>
        </p:nvSpPr>
        <p:spPr>
          <a:xfrm>
            <a:off x="6080760" y="1325880"/>
            <a:ext cx="2651760" cy="91440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Customers aren't randomly picking teacups — they're completing a collection. This is goal-directed shopping, not browsing.</a:t>
            </a:r>
            <a:endParaRPr lang="en-US" sz="1050" dirty="0"/>
          </a:p>
        </p:txBody>
      </p:sp>
      <p:sp>
        <p:nvSpPr>
          <p:cNvPr id="10" name="Text 8"/>
          <p:cNvSpPr/>
          <p:nvPr/>
        </p:nvSpPr>
        <p:spPr>
          <a:xfrm>
            <a:off x="457200" y="2514600"/>
            <a:ext cx="8229600" cy="320040"/>
          </a:xfrm>
          <a:prstGeom prst="rect">
            <a:avLst/>
          </a:prstGeom>
          <a:noFill/>
          <a:ln/>
        </p:spPr>
        <p:txBody>
          <a:bodyPr wrap="square" lIns="0" tIns="0" rIns="0" bIns="0" rtlCol="0" anchor="ctr"/>
          <a:lstStyle/>
          <a:p>
            <a:pPr indent="0" marL="0">
              <a:buNone/>
            </a:pPr>
            <a:r>
              <a:rPr lang="en-US" sz="1300" b="1" dirty="0">
                <a:solidFill>
                  <a:srgbClr val="0F2B46"/>
                </a:solidFill>
                <a:latin typeface="Calibri" pitchFamily="34" charset="0"/>
                <a:ea typeface="Calibri" pitchFamily="34" charset="-122"/>
                <a:cs typeface="Calibri" pitchFamily="34" charset="-120"/>
              </a:rPr>
              <a:t>Charlotte Bag Collection — Customers building coordinated sets:</a:t>
            </a:r>
            <a:endParaRPr lang="en-US" sz="1300" dirty="0"/>
          </a:p>
        </p:txBody>
      </p:sp>
      <p:sp>
        <p:nvSpPr>
          <p:cNvPr id="11" name="Shape 9"/>
          <p:cNvSpPr/>
          <p:nvPr/>
        </p:nvSpPr>
        <p:spPr>
          <a:xfrm>
            <a:off x="457200" y="2926080"/>
            <a:ext cx="2743200" cy="8229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2" name="Shape 10"/>
          <p:cNvSpPr/>
          <p:nvPr/>
        </p:nvSpPr>
        <p:spPr>
          <a:xfrm>
            <a:off x="457200" y="2926080"/>
            <a:ext cx="2743200" cy="64008"/>
          </a:xfrm>
          <a:prstGeom prst="rect">
            <a:avLst/>
          </a:prstGeom>
          <a:solidFill>
            <a:srgbClr val="0D9488"/>
          </a:solidFill>
          <a:ln/>
        </p:spPr>
      </p:sp>
      <p:sp>
        <p:nvSpPr>
          <p:cNvPr id="13" name="Text 11"/>
          <p:cNvSpPr/>
          <p:nvPr/>
        </p:nvSpPr>
        <p:spPr>
          <a:xfrm>
            <a:off x="548640" y="3035808"/>
            <a:ext cx="2560320" cy="320040"/>
          </a:xfrm>
          <a:prstGeom prst="rect">
            <a:avLst/>
          </a:prstGeom>
          <a:noFill/>
          <a:ln/>
        </p:spPr>
        <p:txBody>
          <a:bodyPr wrap="square" lIns="0" tIns="0" rIns="0" bIns="0" rtlCol="0" anchor="ctr"/>
          <a:lstStyle/>
          <a:p>
            <a:pPr indent="0" marL="0">
              <a:buNone/>
            </a:pPr>
            <a:r>
              <a:rPr lang="en-US" sz="1100" b="1" dirty="0">
                <a:solidFill>
                  <a:srgbClr val="0F2B46"/>
                </a:solidFill>
                <a:latin typeface="Calibri" pitchFamily="34" charset="0"/>
                <a:ea typeface="Calibri" pitchFamily="34" charset="-122"/>
                <a:cs typeface="Calibri" pitchFamily="34" charset="-120"/>
              </a:rPr>
              <a:t>Woodland Charlotte Bag</a:t>
            </a:r>
            <a:endParaRPr lang="en-US" sz="1100" dirty="0"/>
          </a:p>
        </p:txBody>
      </p:sp>
      <p:sp>
        <p:nvSpPr>
          <p:cNvPr id="14" name="Text 12"/>
          <p:cNvSpPr/>
          <p:nvPr/>
        </p:nvSpPr>
        <p:spPr>
          <a:xfrm>
            <a:off x="548640" y="3337560"/>
            <a:ext cx="2560320" cy="32004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Lift: 15.2×</a:t>
            </a:r>
            <a:endParaRPr lang="en-US" sz="1200" dirty="0"/>
          </a:p>
        </p:txBody>
      </p:sp>
      <p:sp>
        <p:nvSpPr>
          <p:cNvPr id="15" name="Shape 13"/>
          <p:cNvSpPr/>
          <p:nvPr/>
        </p:nvSpPr>
        <p:spPr>
          <a:xfrm>
            <a:off x="3383280" y="2926080"/>
            <a:ext cx="2743200" cy="8229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6" name="Shape 14"/>
          <p:cNvSpPr/>
          <p:nvPr/>
        </p:nvSpPr>
        <p:spPr>
          <a:xfrm>
            <a:off x="3383280" y="2926080"/>
            <a:ext cx="2743200" cy="64008"/>
          </a:xfrm>
          <a:prstGeom prst="rect">
            <a:avLst/>
          </a:prstGeom>
          <a:solidFill>
            <a:srgbClr val="0D9488"/>
          </a:solidFill>
          <a:ln/>
        </p:spPr>
      </p:sp>
      <p:sp>
        <p:nvSpPr>
          <p:cNvPr id="17" name="Text 15"/>
          <p:cNvSpPr/>
          <p:nvPr/>
        </p:nvSpPr>
        <p:spPr>
          <a:xfrm>
            <a:off x="3474720" y="3035808"/>
            <a:ext cx="2560320" cy="320040"/>
          </a:xfrm>
          <a:prstGeom prst="rect">
            <a:avLst/>
          </a:prstGeom>
          <a:noFill/>
          <a:ln/>
        </p:spPr>
        <p:txBody>
          <a:bodyPr wrap="square" lIns="0" tIns="0" rIns="0" bIns="0" rtlCol="0" anchor="ctr"/>
          <a:lstStyle/>
          <a:p>
            <a:pPr indent="0" marL="0">
              <a:buNone/>
            </a:pPr>
            <a:r>
              <a:rPr lang="en-US" sz="1100" b="1" dirty="0">
                <a:solidFill>
                  <a:srgbClr val="0F2B46"/>
                </a:solidFill>
                <a:latin typeface="Calibri" pitchFamily="34" charset="0"/>
                <a:ea typeface="Calibri" pitchFamily="34" charset="-122"/>
                <a:cs typeface="Calibri" pitchFamily="34" charset="-120"/>
              </a:rPr>
              <a:t>Strawberry Charlotte Bag</a:t>
            </a:r>
            <a:endParaRPr lang="en-US" sz="1100" dirty="0"/>
          </a:p>
        </p:txBody>
      </p:sp>
      <p:sp>
        <p:nvSpPr>
          <p:cNvPr id="18" name="Text 16"/>
          <p:cNvSpPr/>
          <p:nvPr/>
        </p:nvSpPr>
        <p:spPr>
          <a:xfrm>
            <a:off x="3474720" y="3337560"/>
            <a:ext cx="2560320" cy="32004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Lift: 14.8×</a:t>
            </a:r>
            <a:endParaRPr lang="en-US" sz="1200" dirty="0"/>
          </a:p>
        </p:txBody>
      </p:sp>
      <p:sp>
        <p:nvSpPr>
          <p:cNvPr id="19" name="Shape 17"/>
          <p:cNvSpPr/>
          <p:nvPr/>
        </p:nvSpPr>
        <p:spPr>
          <a:xfrm>
            <a:off x="6309360" y="2926080"/>
            <a:ext cx="2743200" cy="8229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0" name="Shape 18"/>
          <p:cNvSpPr/>
          <p:nvPr/>
        </p:nvSpPr>
        <p:spPr>
          <a:xfrm>
            <a:off x="6309360" y="2926080"/>
            <a:ext cx="2743200" cy="64008"/>
          </a:xfrm>
          <a:prstGeom prst="rect">
            <a:avLst/>
          </a:prstGeom>
          <a:solidFill>
            <a:srgbClr val="0D9488"/>
          </a:solidFill>
          <a:ln/>
        </p:spPr>
      </p:sp>
      <p:sp>
        <p:nvSpPr>
          <p:cNvPr id="21" name="Text 19"/>
          <p:cNvSpPr/>
          <p:nvPr/>
        </p:nvSpPr>
        <p:spPr>
          <a:xfrm>
            <a:off x="6400800" y="3035808"/>
            <a:ext cx="2560320" cy="320040"/>
          </a:xfrm>
          <a:prstGeom prst="rect">
            <a:avLst/>
          </a:prstGeom>
          <a:noFill/>
          <a:ln/>
        </p:spPr>
        <p:txBody>
          <a:bodyPr wrap="square" lIns="0" tIns="0" rIns="0" bIns="0" rtlCol="0" anchor="ctr"/>
          <a:lstStyle/>
          <a:p>
            <a:pPr indent="0" marL="0">
              <a:buNone/>
            </a:pPr>
            <a:r>
              <a:rPr lang="en-US" sz="1100" b="1" dirty="0">
                <a:solidFill>
                  <a:srgbClr val="0F2B46"/>
                </a:solidFill>
                <a:latin typeface="Calibri" pitchFamily="34" charset="0"/>
                <a:ea typeface="Calibri" pitchFamily="34" charset="-122"/>
                <a:cs typeface="Calibri" pitchFamily="34" charset="-120"/>
              </a:rPr>
              <a:t>Pink Polkadot Charlotte Bag</a:t>
            </a:r>
            <a:endParaRPr lang="en-US" sz="1100" dirty="0"/>
          </a:p>
        </p:txBody>
      </p:sp>
      <p:sp>
        <p:nvSpPr>
          <p:cNvPr id="22" name="Text 20"/>
          <p:cNvSpPr/>
          <p:nvPr/>
        </p:nvSpPr>
        <p:spPr>
          <a:xfrm>
            <a:off x="6400800" y="3337560"/>
            <a:ext cx="2560320" cy="32004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Lift: 14.0×</a:t>
            </a:r>
            <a:endParaRPr lang="en-US" sz="1200" dirty="0"/>
          </a:p>
        </p:txBody>
      </p:sp>
      <p:sp>
        <p:nvSpPr>
          <p:cNvPr id="23" name="Shape 21"/>
          <p:cNvSpPr/>
          <p:nvPr/>
        </p:nvSpPr>
        <p:spPr>
          <a:xfrm>
            <a:off x="457200" y="3886200"/>
            <a:ext cx="8229600" cy="1005840"/>
          </a:xfrm>
          <a:prstGeom prst="rect">
            <a:avLst/>
          </a:prstGeom>
          <a:solidFill>
            <a:srgbClr val="CCFBF1"/>
          </a:solidFill>
          <a:ln/>
          <a:effectLst>
            <a:outerShdw sx="100000" sy="100000" kx="0" ky="0" algn="bl" rotWithShape="0" blurRad="101600" dist="38100" dir="8100000">
              <a:srgbClr val="000000">
                <a:alpha val="12000"/>
              </a:srgbClr>
            </a:outerShdw>
          </a:effectLst>
        </p:spPr>
      </p:sp>
      <p:sp>
        <p:nvSpPr>
          <p:cNvPr id="24" name="Text 22"/>
          <p:cNvSpPr/>
          <p:nvPr/>
        </p:nvSpPr>
        <p:spPr>
          <a:xfrm>
            <a:off x="594360" y="3931920"/>
            <a:ext cx="7955280" cy="914400"/>
          </a:xfrm>
          <a:prstGeom prst="rect">
            <a:avLst/>
          </a:prstGeom>
          <a:noFill/>
          <a:ln/>
        </p:spPr>
        <p:txBody>
          <a:bodyPr wrap="square" lIns="0" tIns="0" rIns="0" bIns="0" rtlCol="0" anchor="ctr"/>
          <a:lstStyle/>
          <a:p>
            <a:pPr indent="0" marL="0">
              <a:buNone/>
            </a:pPr>
            <a:r>
              <a:rPr lang="en-US" sz="1100" b="1" dirty="0">
                <a:solidFill>
                  <a:srgbClr val="0F2B46"/>
                </a:solidFill>
                <a:latin typeface="Calibri" pitchFamily="34" charset="0"/>
                <a:ea typeface="Calibri" pitchFamily="34" charset="-122"/>
                <a:cs typeface="Calibri" pitchFamily="34" charset="-120"/>
              </a:rPr>
              <a:t>Visualization finding:  </a:t>
            </a:r>
            <a:pPr indent="0" marL="0">
              <a:buNone/>
            </a:pPr>
            <a:r>
              <a:rPr lang="en-US" sz="1100" dirty="0">
                <a:solidFill>
                  <a:srgbClr val="475569"/>
                </a:solidFill>
                <a:latin typeface="Calibri" pitchFamily="34" charset="0"/>
                <a:ea typeface="Calibri" pitchFamily="34" charset="-122"/>
                <a:cs typeface="Calibri" pitchFamily="34" charset="-120"/>
              </a:rPr>
              <a:t>Support vs. Confidence scatter showed most high-confidence rules cluster in the 2–3% support range. Strong but narrow associations — niche product families, not mass-market items. This insight validated lowering the threshold to 1.5% to capture more of these meaningful pairs.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The Dashboard: Analysis Made Usable</a:t>
            </a:r>
            <a:endParaRPr lang="en-US" sz="2800" dirty="0"/>
          </a:p>
        </p:txBody>
      </p:sp>
      <p:sp>
        <p:nvSpPr>
          <p:cNvPr id="3" name="Shape 1"/>
          <p:cNvSpPr/>
          <p:nvPr/>
        </p:nvSpPr>
        <p:spPr>
          <a:xfrm>
            <a:off x="457200" y="960120"/>
            <a:ext cx="4160520" cy="301752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4" name="Shape 2"/>
          <p:cNvSpPr/>
          <p:nvPr/>
        </p:nvSpPr>
        <p:spPr>
          <a:xfrm>
            <a:off x="457200" y="960120"/>
            <a:ext cx="4160520" cy="73152"/>
          </a:xfrm>
          <a:prstGeom prst="rect">
            <a:avLst/>
          </a:prstGeom>
          <a:solidFill>
            <a:srgbClr val="F59E0B"/>
          </a:solidFill>
          <a:ln/>
        </p:spPr>
      </p:sp>
      <p:sp>
        <p:nvSpPr>
          <p:cNvPr id="5" name="Text 3"/>
          <p:cNvSpPr/>
          <p:nvPr/>
        </p:nvSpPr>
        <p:spPr>
          <a:xfrm>
            <a:off x="594360" y="1078992"/>
            <a:ext cx="388620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Frequently Bought Together</a:t>
            </a:r>
            <a:endParaRPr lang="en-US" sz="1400" dirty="0"/>
          </a:p>
        </p:txBody>
      </p:sp>
      <p:sp>
        <p:nvSpPr>
          <p:cNvPr id="6" name="Shape 4"/>
          <p:cNvSpPr/>
          <p:nvPr/>
        </p:nvSpPr>
        <p:spPr>
          <a:xfrm>
            <a:off x="594360" y="1508760"/>
            <a:ext cx="1737360" cy="256032"/>
          </a:xfrm>
          <a:prstGeom prst="roundRect">
            <a:avLst>
              <a:gd name="adj" fmla="val 17857"/>
            </a:avLst>
          </a:prstGeom>
          <a:solidFill>
            <a:srgbClr val="F59E0B">
              <a:alpha val="70000"/>
            </a:srgbClr>
          </a:solidFill>
          <a:ln/>
        </p:spPr>
      </p:sp>
      <p:sp>
        <p:nvSpPr>
          <p:cNvPr id="7" name="Text 5"/>
          <p:cNvSpPr/>
          <p:nvPr/>
        </p:nvSpPr>
        <p:spPr>
          <a:xfrm>
            <a:off x="594360" y="1517904"/>
            <a:ext cx="173736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Ranked by Confidence</a:t>
            </a:r>
            <a:endParaRPr lang="en-US" sz="900" dirty="0"/>
          </a:p>
        </p:txBody>
      </p:sp>
      <p:sp>
        <p:nvSpPr>
          <p:cNvPr id="8" name="Text 6"/>
          <p:cNvSpPr/>
          <p:nvPr/>
        </p:nvSpPr>
        <p:spPr>
          <a:xfrm>
            <a:off x="594360" y="1874520"/>
            <a:ext cx="3840480" cy="10058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Top 3 products most reliably bought in the same basket. Gold/silver/bronze ranked. Metric pills show support, confidence, and lift inline.</a:t>
            </a:r>
            <a:endParaRPr lang="en-US" sz="1100" dirty="0"/>
          </a:p>
        </p:txBody>
      </p:sp>
      <p:sp>
        <p:nvSpPr>
          <p:cNvPr id="9" name="Shape 7"/>
          <p:cNvSpPr/>
          <p:nvPr/>
        </p:nvSpPr>
        <p:spPr>
          <a:xfrm>
            <a:off x="594360" y="2926080"/>
            <a:ext cx="3749040" cy="36576"/>
          </a:xfrm>
          <a:prstGeom prst="rect">
            <a:avLst/>
          </a:prstGeom>
          <a:solidFill>
            <a:srgbClr val="F59E0B">
              <a:alpha val="40000"/>
            </a:srgbClr>
          </a:solidFill>
          <a:ln/>
        </p:spPr>
      </p:sp>
      <p:sp>
        <p:nvSpPr>
          <p:cNvPr id="10" name="Text 8"/>
          <p:cNvSpPr/>
          <p:nvPr/>
        </p:nvSpPr>
        <p:spPr>
          <a:xfrm>
            <a:off x="594360" y="3017520"/>
            <a:ext cx="3840480" cy="822960"/>
          </a:xfrm>
          <a:prstGeom prst="rect">
            <a:avLst/>
          </a:prstGeom>
          <a:noFill/>
          <a:ln/>
        </p:spPr>
        <p:txBody>
          <a:bodyPr wrap="square" lIns="0" tIns="0" rIns="0" bIns="0" rtlCol="0" anchor="ctr"/>
          <a:lstStyle/>
          <a:p>
            <a:pPr indent="0" marL="0">
              <a:buNone/>
            </a:pPr>
            <a:r>
              <a:rPr lang="en-US" sz="1050" b="1" dirty="0">
                <a:solidFill>
                  <a:srgbClr val="F59E0B"/>
                </a:solidFill>
                <a:latin typeface="Calibri" pitchFamily="34" charset="0"/>
                <a:ea typeface="Calibri" pitchFamily="34" charset="-122"/>
                <a:cs typeface="Calibri" pitchFamily="34" charset="-120"/>
              </a:rPr>
              <a:t>Use case: </a:t>
            </a:r>
            <a:pPr indent="0" marL="0">
              <a:buNone/>
            </a:pPr>
            <a:r>
              <a:rPr lang="en-US" sz="1050" dirty="0">
                <a:solidFill>
                  <a:srgbClr val="FFFFFF"/>
                </a:solidFill>
                <a:latin typeface="Calibri" pitchFamily="34" charset="0"/>
                <a:ea typeface="Calibri" pitchFamily="34" charset="-122"/>
                <a:cs typeface="Calibri" pitchFamily="34" charset="-120"/>
              </a:rPr>
              <a:t>Bundle promotions, cross-merchandising, 'Complete the set' messaging</a:t>
            </a:r>
            <a:endParaRPr lang="en-US" sz="1050" dirty="0"/>
          </a:p>
        </p:txBody>
      </p:sp>
      <p:sp>
        <p:nvSpPr>
          <p:cNvPr id="11" name="Shape 9"/>
          <p:cNvSpPr/>
          <p:nvPr/>
        </p:nvSpPr>
        <p:spPr>
          <a:xfrm>
            <a:off x="4892040" y="960120"/>
            <a:ext cx="4160520" cy="301752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12" name="Shape 10"/>
          <p:cNvSpPr/>
          <p:nvPr/>
        </p:nvSpPr>
        <p:spPr>
          <a:xfrm>
            <a:off x="4892040" y="960120"/>
            <a:ext cx="4160520" cy="73152"/>
          </a:xfrm>
          <a:prstGeom prst="rect">
            <a:avLst/>
          </a:prstGeom>
          <a:solidFill>
            <a:srgbClr val="0D9488"/>
          </a:solidFill>
          <a:ln/>
        </p:spPr>
      </p:sp>
      <p:sp>
        <p:nvSpPr>
          <p:cNvPr id="13" name="Text 11"/>
          <p:cNvSpPr/>
          <p:nvPr/>
        </p:nvSpPr>
        <p:spPr>
          <a:xfrm>
            <a:off x="5029200" y="1078992"/>
            <a:ext cx="388620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Cross-Sell Opportunities</a:t>
            </a:r>
            <a:endParaRPr lang="en-US" sz="1400" dirty="0"/>
          </a:p>
        </p:txBody>
      </p:sp>
      <p:sp>
        <p:nvSpPr>
          <p:cNvPr id="14" name="Shape 12"/>
          <p:cNvSpPr/>
          <p:nvPr/>
        </p:nvSpPr>
        <p:spPr>
          <a:xfrm>
            <a:off x="5029200" y="1508760"/>
            <a:ext cx="1737360" cy="256032"/>
          </a:xfrm>
          <a:prstGeom prst="roundRect">
            <a:avLst>
              <a:gd name="adj" fmla="val 17857"/>
            </a:avLst>
          </a:prstGeom>
          <a:solidFill>
            <a:srgbClr val="0D9488">
              <a:alpha val="70000"/>
            </a:srgbClr>
          </a:solidFill>
          <a:ln/>
        </p:spPr>
      </p:sp>
      <p:sp>
        <p:nvSpPr>
          <p:cNvPr id="15" name="Text 13"/>
          <p:cNvSpPr/>
          <p:nvPr/>
        </p:nvSpPr>
        <p:spPr>
          <a:xfrm>
            <a:off x="5029200" y="1517904"/>
            <a:ext cx="173736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Ranked by Lift</a:t>
            </a:r>
            <a:endParaRPr lang="en-US" sz="900" dirty="0"/>
          </a:p>
        </p:txBody>
      </p:sp>
      <p:sp>
        <p:nvSpPr>
          <p:cNvPr id="16" name="Text 14"/>
          <p:cNvSpPr/>
          <p:nvPr/>
        </p:nvSpPr>
        <p:spPr>
          <a:xfrm>
            <a:off x="5029200" y="1874520"/>
            <a:ext cx="3840480" cy="10058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Top 3 products from different categories with the strongest statistical association. Uses a word-overlap heuristic to filter out product variants.</a:t>
            </a:r>
            <a:endParaRPr lang="en-US" sz="1100" dirty="0"/>
          </a:p>
        </p:txBody>
      </p:sp>
      <p:sp>
        <p:nvSpPr>
          <p:cNvPr id="17" name="Shape 15"/>
          <p:cNvSpPr/>
          <p:nvPr/>
        </p:nvSpPr>
        <p:spPr>
          <a:xfrm>
            <a:off x="5029200" y="2926080"/>
            <a:ext cx="3749040" cy="36576"/>
          </a:xfrm>
          <a:prstGeom prst="rect">
            <a:avLst/>
          </a:prstGeom>
          <a:solidFill>
            <a:srgbClr val="0D9488">
              <a:alpha val="40000"/>
            </a:srgbClr>
          </a:solidFill>
          <a:ln/>
        </p:spPr>
      </p:sp>
      <p:sp>
        <p:nvSpPr>
          <p:cNvPr id="18" name="Text 16"/>
          <p:cNvSpPr/>
          <p:nvPr/>
        </p:nvSpPr>
        <p:spPr>
          <a:xfrm>
            <a:off x="5029200" y="3017520"/>
            <a:ext cx="3840480" cy="822960"/>
          </a:xfrm>
          <a:prstGeom prst="rect">
            <a:avLst/>
          </a:prstGeom>
          <a:noFill/>
          <a:ln/>
        </p:spPr>
        <p:txBody>
          <a:bodyPr wrap="square" lIns="0" tIns="0" rIns="0" bIns="0"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Use case: </a:t>
            </a:r>
            <a:pPr indent="0" marL="0">
              <a:buNone/>
            </a:pPr>
            <a:r>
              <a:rPr lang="en-US" sz="1050" dirty="0">
                <a:solidFill>
                  <a:srgbClr val="FFFFFF"/>
                </a:solidFill>
                <a:latin typeface="Calibri" pitchFamily="34" charset="0"/>
                <a:ea typeface="Calibri" pitchFamily="34" charset="-122"/>
                <a:cs typeface="Calibri" pitchFamily="34" charset="-120"/>
              </a:rPr>
              <a:t>Category expansion, discovery, adjacent product suggestions</a:t>
            </a:r>
            <a:endParaRPr lang="en-US" sz="1050" dirty="0"/>
          </a:p>
        </p:txBody>
      </p:sp>
      <p:sp>
        <p:nvSpPr>
          <p:cNvPr id="19" name="Shape 17"/>
          <p:cNvSpPr/>
          <p:nvPr/>
        </p:nvSpPr>
        <p:spPr>
          <a:xfrm>
            <a:off x="457200" y="4114800"/>
            <a:ext cx="8229600" cy="777240"/>
          </a:xfrm>
          <a:prstGeom prst="rect">
            <a:avLst/>
          </a:prstGeom>
          <a:solidFill>
            <a:srgbClr val="0D9488">
              <a:alpha val="15000"/>
            </a:srgbClr>
          </a:solidFill>
          <a:ln/>
          <a:effectLst>
            <a:outerShdw sx="100000" sy="100000" kx="0" ky="0" algn="bl" rotWithShape="0" blurRad="101600" dist="38100" dir="8100000">
              <a:srgbClr val="000000">
                <a:alpha val="12000"/>
              </a:srgbClr>
            </a:outerShdw>
          </a:effectLst>
        </p:spPr>
      </p:sp>
      <p:sp>
        <p:nvSpPr>
          <p:cNvPr id="20" name="Text 18"/>
          <p:cNvSpPr/>
          <p:nvPr/>
        </p:nvSpPr>
        <p:spPr>
          <a:xfrm>
            <a:off x="594360" y="4160520"/>
            <a:ext cx="7955280" cy="685800"/>
          </a:xfrm>
          <a:prstGeom prst="rect">
            <a:avLst/>
          </a:prstGeom>
          <a:noFill/>
          <a:ln/>
        </p:spPr>
        <p:txBody>
          <a:bodyPr wrap="square" lIns="0" tIns="0" rIns="0" bIns="0" rtlCol="0" anchor="ctr"/>
          <a:lstStyle/>
          <a:p>
            <a:pPr indent="0" marL="0">
              <a:buNone/>
            </a:pPr>
            <a:r>
              <a:rPr lang="en-US" sz="1150" b="1" dirty="0">
                <a:solidFill>
                  <a:srgbClr val="14B8A6"/>
                </a:solidFill>
                <a:latin typeface="Calibri" pitchFamily="34" charset="0"/>
                <a:ea typeface="Calibri" pitchFamily="34" charset="-122"/>
                <a:cs typeface="Calibri" pitchFamily="34" charset="-120"/>
              </a:rPr>
              <a:t>Stack: </a:t>
            </a:r>
            <a:pPr indent="0" marL="0">
              <a:buNone/>
            </a:pPr>
            <a:r>
              <a:rPr lang="en-US" sz="1150" dirty="0">
                <a:solidFill>
                  <a:srgbClr val="FFFFFF"/>
                </a:solidFill>
                <a:latin typeface="Calibri" pitchFamily="34" charset="0"/>
                <a:ea typeface="Calibri" pitchFamily="34" charset="-122"/>
                <a:cs typeface="Calibri" pitchFamily="34" charset="-120"/>
              </a:rPr>
              <a:t>Python  ·  pandas  ·  mlxtend (FP-Growth)  ·  Streamlit  ·  Custom CSS — gradient hero, dark sidebar, card-based layout with metric pills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indent="0" marL="0">
              <a:buNone/>
            </a:pPr>
            <a:r>
              <a:rPr lang="en-US" sz="2800" b="1" dirty="0">
                <a:solidFill>
                  <a:srgbClr val="0F2B46"/>
                </a:solidFill>
                <a:latin typeface="Calibri" pitchFamily="34" charset="0"/>
                <a:ea typeface="Calibri" pitchFamily="34" charset="-122"/>
                <a:cs typeface="Calibri" pitchFamily="34" charset="-120"/>
              </a:rPr>
              <a:t>What I Learned</a:t>
            </a:r>
            <a:endParaRPr lang="en-US" sz="2800" dirty="0"/>
          </a:p>
        </p:txBody>
      </p:sp>
      <p:sp>
        <p:nvSpPr>
          <p:cNvPr id="3" name="Shape 1"/>
          <p:cNvSpPr/>
          <p:nvPr/>
        </p:nvSpPr>
        <p:spPr>
          <a:xfrm>
            <a:off x="457200" y="960120"/>
            <a:ext cx="4160520" cy="16459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 name="Shape 2"/>
          <p:cNvSpPr/>
          <p:nvPr/>
        </p:nvSpPr>
        <p:spPr>
          <a:xfrm>
            <a:off x="457200" y="960120"/>
            <a:ext cx="64008" cy="1645920"/>
          </a:xfrm>
          <a:prstGeom prst="rect">
            <a:avLst/>
          </a:prstGeom>
          <a:solidFill>
            <a:srgbClr val="0D9488"/>
          </a:solidFill>
          <a:ln/>
        </p:spPr>
      </p:sp>
      <p:sp>
        <p:nvSpPr>
          <p:cNvPr id="5" name="Text 3"/>
          <p:cNvSpPr/>
          <p:nvPr/>
        </p:nvSpPr>
        <p:spPr>
          <a:xfrm>
            <a:off x="621792" y="1051560"/>
            <a:ext cx="502920" cy="411480"/>
          </a:xfrm>
          <a:prstGeom prst="rect">
            <a:avLst/>
          </a:prstGeom>
          <a:noFill/>
          <a:ln/>
        </p:spPr>
        <p:txBody>
          <a:bodyPr wrap="square" lIns="0" tIns="0" rIns="0" bIns="0" rtlCol="0" anchor="ctr"/>
          <a:lstStyle/>
          <a:p>
            <a:pPr indent="0" marL="0">
              <a:buNone/>
            </a:pPr>
            <a:r>
              <a:rPr lang="en-US" sz="2200" b="1" dirty="0">
                <a:solidFill>
                  <a:srgbClr val="0D9488"/>
                </a:solidFill>
                <a:latin typeface="Calibri" pitchFamily="34" charset="0"/>
                <a:ea typeface="Calibri" pitchFamily="34" charset="-122"/>
                <a:cs typeface="Calibri" pitchFamily="34" charset="-120"/>
              </a:rPr>
              <a:t>01</a:t>
            </a:r>
            <a:endParaRPr lang="en-US" sz="2200" dirty="0"/>
          </a:p>
        </p:txBody>
      </p:sp>
      <p:sp>
        <p:nvSpPr>
          <p:cNvPr id="6" name="Text 4"/>
          <p:cNvSpPr/>
          <p:nvPr/>
        </p:nvSpPr>
        <p:spPr>
          <a:xfrm>
            <a:off x="1143000" y="1051560"/>
            <a:ext cx="3337560" cy="411480"/>
          </a:xfrm>
          <a:prstGeom prst="rect">
            <a:avLst/>
          </a:prstGeom>
          <a:noFill/>
          <a:ln/>
        </p:spPr>
        <p:txBody>
          <a:bodyPr wrap="square" lIns="0" tIns="0" rIns="0" bIns="0" rtlCol="0" anchor="ctr"/>
          <a:lstStyle/>
          <a:p>
            <a:pPr indent="0" marL="0">
              <a:buNone/>
            </a:pPr>
            <a:r>
              <a:rPr lang="en-US" sz="1250" b="1" dirty="0">
                <a:solidFill>
                  <a:srgbClr val="0F2B46"/>
                </a:solidFill>
                <a:latin typeface="Calibri" pitchFamily="34" charset="0"/>
                <a:ea typeface="Calibri" pitchFamily="34" charset="-122"/>
                <a:cs typeface="Calibri" pitchFamily="34" charset="-120"/>
              </a:rPr>
              <a:t>Cleaning is analytical design</a:t>
            </a:r>
            <a:endParaRPr lang="en-US" sz="1250" dirty="0"/>
          </a:p>
        </p:txBody>
      </p:sp>
      <p:sp>
        <p:nvSpPr>
          <p:cNvPr id="7" name="Text 5"/>
          <p:cNvSpPr/>
          <p:nvPr/>
        </p:nvSpPr>
        <p:spPr>
          <a:xfrm>
            <a:off x="621792" y="1508760"/>
            <a:ext cx="3840480" cy="100584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Every drop, normalize, and exclude decision shaped what the model could see. Choosing to binarize quantities rather than preserve counts wasn't obvious — it required understanding what basket analysis actually needs.</a:t>
            </a:r>
            <a:endParaRPr lang="en-US" sz="1050" dirty="0"/>
          </a:p>
        </p:txBody>
      </p:sp>
      <p:sp>
        <p:nvSpPr>
          <p:cNvPr id="8" name="Shape 6"/>
          <p:cNvSpPr/>
          <p:nvPr/>
        </p:nvSpPr>
        <p:spPr>
          <a:xfrm>
            <a:off x="4892040" y="960120"/>
            <a:ext cx="4160520" cy="16459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9" name="Shape 7"/>
          <p:cNvSpPr/>
          <p:nvPr/>
        </p:nvSpPr>
        <p:spPr>
          <a:xfrm>
            <a:off x="4892040" y="960120"/>
            <a:ext cx="64008" cy="1645920"/>
          </a:xfrm>
          <a:prstGeom prst="rect">
            <a:avLst/>
          </a:prstGeom>
          <a:solidFill>
            <a:srgbClr val="0D9488"/>
          </a:solidFill>
          <a:ln/>
        </p:spPr>
      </p:sp>
      <p:sp>
        <p:nvSpPr>
          <p:cNvPr id="10" name="Text 8"/>
          <p:cNvSpPr/>
          <p:nvPr/>
        </p:nvSpPr>
        <p:spPr>
          <a:xfrm>
            <a:off x="5056632" y="1051560"/>
            <a:ext cx="502920" cy="411480"/>
          </a:xfrm>
          <a:prstGeom prst="rect">
            <a:avLst/>
          </a:prstGeom>
          <a:noFill/>
          <a:ln/>
        </p:spPr>
        <p:txBody>
          <a:bodyPr wrap="square" lIns="0" tIns="0" rIns="0" bIns="0" rtlCol="0" anchor="ctr"/>
          <a:lstStyle/>
          <a:p>
            <a:pPr indent="0" marL="0">
              <a:buNone/>
            </a:pPr>
            <a:r>
              <a:rPr lang="en-US" sz="2200" b="1" dirty="0">
                <a:solidFill>
                  <a:srgbClr val="0D9488"/>
                </a:solidFill>
                <a:latin typeface="Calibri" pitchFamily="34" charset="0"/>
                <a:ea typeface="Calibri" pitchFamily="34" charset="-122"/>
                <a:cs typeface="Calibri" pitchFamily="34" charset="-120"/>
              </a:rPr>
              <a:t>02</a:t>
            </a:r>
            <a:endParaRPr lang="en-US" sz="2200" dirty="0"/>
          </a:p>
        </p:txBody>
      </p:sp>
      <p:sp>
        <p:nvSpPr>
          <p:cNvPr id="11" name="Text 9"/>
          <p:cNvSpPr/>
          <p:nvPr/>
        </p:nvSpPr>
        <p:spPr>
          <a:xfrm>
            <a:off x="5577840" y="1051560"/>
            <a:ext cx="3337560" cy="411480"/>
          </a:xfrm>
          <a:prstGeom prst="rect">
            <a:avLst/>
          </a:prstGeom>
          <a:noFill/>
          <a:ln/>
        </p:spPr>
        <p:txBody>
          <a:bodyPr wrap="square" lIns="0" tIns="0" rIns="0" bIns="0" rtlCol="0" anchor="ctr"/>
          <a:lstStyle/>
          <a:p>
            <a:pPr indent="0" marL="0">
              <a:buNone/>
            </a:pPr>
            <a:r>
              <a:rPr lang="en-US" sz="1250" b="1" dirty="0">
                <a:solidFill>
                  <a:srgbClr val="0F2B46"/>
                </a:solidFill>
                <a:latin typeface="Calibri" pitchFamily="34" charset="0"/>
                <a:ea typeface="Calibri" pitchFamily="34" charset="-122"/>
                <a:cs typeface="Calibri" pitchFamily="34" charset="-120"/>
              </a:rPr>
              <a:t>Three numbers encode real behavior</a:t>
            </a:r>
            <a:endParaRPr lang="en-US" sz="1250" dirty="0"/>
          </a:p>
        </p:txBody>
      </p:sp>
      <p:sp>
        <p:nvSpPr>
          <p:cNvPr id="12" name="Text 10"/>
          <p:cNvSpPr/>
          <p:nvPr/>
        </p:nvSpPr>
        <p:spPr>
          <a:xfrm>
            <a:off x="5056632" y="1508760"/>
            <a:ext cx="3840480" cy="100584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Support, confidence, and lift sound like statistics. But reading them together reveals genuine purchasing intent — collection-completion, cross-category discovery, seasonal bundling. The math is describing people.</a:t>
            </a:r>
            <a:endParaRPr lang="en-US" sz="1050" dirty="0"/>
          </a:p>
        </p:txBody>
      </p:sp>
      <p:sp>
        <p:nvSpPr>
          <p:cNvPr id="13" name="Shape 11"/>
          <p:cNvSpPr/>
          <p:nvPr/>
        </p:nvSpPr>
        <p:spPr>
          <a:xfrm>
            <a:off x="457200" y="2788920"/>
            <a:ext cx="4160520" cy="16459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2"/>
          <p:cNvSpPr/>
          <p:nvPr/>
        </p:nvSpPr>
        <p:spPr>
          <a:xfrm>
            <a:off x="457200" y="2788920"/>
            <a:ext cx="64008" cy="1645920"/>
          </a:xfrm>
          <a:prstGeom prst="rect">
            <a:avLst/>
          </a:prstGeom>
          <a:solidFill>
            <a:srgbClr val="0D9488"/>
          </a:solidFill>
          <a:ln/>
        </p:spPr>
      </p:sp>
      <p:sp>
        <p:nvSpPr>
          <p:cNvPr id="15" name="Text 13"/>
          <p:cNvSpPr/>
          <p:nvPr/>
        </p:nvSpPr>
        <p:spPr>
          <a:xfrm>
            <a:off x="621792" y="2880360"/>
            <a:ext cx="502920" cy="411480"/>
          </a:xfrm>
          <a:prstGeom prst="rect">
            <a:avLst/>
          </a:prstGeom>
          <a:noFill/>
          <a:ln/>
        </p:spPr>
        <p:txBody>
          <a:bodyPr wrap="square" lIns="0" tIns="0" rIns="0" bIns="0" rtlCol="0" anchor="ctr"/>
          <a:lstStyle/>
          <a:p>
            <a:pPr indent="0" marL="0">
              <a:buNone/>
            </a:pPr>
            <a:r>
              <a:rPr lang="en-US" sz="2200" b="1" dirty="0">
                <a:solidFill>
                  <a:srgbClr val="0D9488"/>
                </a:solidFill>
                <a:latin typeface="Calibri" pitchFamily="34" charset="0"/>
                <a:ea typeface="Calibri" pitchFamily="34" charset="-122"/>
                <a:cs typeface="Calibri" pitchFamily="34" charset="-120"/>
              </a:rPr>
              <a:t>03</a:t>
            </a:r>
            <a:endParaRPr lang="en-US" sz="2200" dirty="0"/>
          </a:p>
        </p:txBody>
      </p:sp>
      <p:sp>
        <p:nvSpPr>
          <p:cNvPr id="16" name="Text 14"/>
          <p:cNvSpPr/>
          <p:nvPr/>
        </p:nvSpPr>
        <p:spPr>
          <a:xfrm>
            <a:off x="1143000" y="2880360"/>
            <a:ext cx="3337560" cy="411480"/>
          </a:xfrm>
          <a:prstGeom prst="rect">
            <a:avLst/>
          </a:prstGeom>
          <a:noFill/>
          <a:ln/>
        </p:spPr>
        <p:txBody>
          <a:bodyPr wrap="square" lIns="0" tIns="0" rIns="0" bIns="0" rtlCol="0" anchor="ctr"/>
          <a:lstStyle/>
          <a:p>
            <a:pPr indent="0" marL="0">
              <a:buNone/>
            </a:pPr>
            <a:r>
              <a:rPr lang="en-US" sz="1250" b="1" dirty="0">
                <a:solidFill>
                  <a:srgbClr val="0F2B46"/>
                </a:solidFill>
                <a:latin typeface="Calibri" pitchFamily="34" charset="0"/>
                <a:ea typeface="Calibri" pitchFamily="34" charset="-122"/>
                <a:cs typeface="Calibri" pitchFamily="34" charset="-120"/>
              </a:rPr>
              <a:t>Presentation is part of the analysis</a:t>
            </a:r>
            <a:endParaRPr lang="en-US" sz="1250" dirty="0"/>
          </a:p>
        </p:txBody>
      </p:sp>
      <p:sp>
        <p:nvSpPr>
          <p:cNvPr id="17" name="Text 15"/>
          <p:cNvSpPr/>
          <p:nvPr/>
        </p:nvSpPr>
        <p:spPr>
          <a:xfrm>
            <a:off x="621792" y="3337560"/>
            <a:ext cx="3840480" cy="100584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A recommendation engine only a data scientist can query is a research artifact, not a tool. Building the dashboard forced me to think about what business users need — and communicate metrics without jargon.</a:t>
            </a:r>
            <a:endParaRPr lang="en-US" sz="1050" dirty="0"/>
          </a:p>
        </p:txBody>
      </p:sp>
      <p:sp>
        <p:nvSpPr>
          <p:cNvPr id="18" name="Shape 16"/>
          <p:cNvSpPr/>
          <p:nvPr/>
        </p:nvSpPr>
        <p:spPr>
          <a:xfrm>
            <a:off x="4892040" y="2788920"/>
            <a:ext cx="4160520" cy="16459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9" name="Shape 17"/>
          <p:cNvSpPr/>
          <p:nvPr/>
        </p:nvSpPr>
        <p:spPr>
          <a:xfrm>
            <a:off x="4892040" y="2788920"/>
            <a:ext cx="64008" cy="1645920"/>
          </a:xfrm>
          <a:prstGeom prst="rect">
            <a:avLst/>
          </a:prstGeom>
          <a:solidFill>
            <a:srgbClr val="0D9488"/>
          </a:solidFill>
          <a:ln/>
        </p:spPr>
      </p:sp>
      <p:sp>
        <p:nvSpPr>
          <p:cNvPr id="20" name="Text 18"/>
          <p:cNvSpPr/>
          <p:nvPr/>
        </p:nvSpPr>
        <p:spPr>
          <a:xfrm>
            <a:off x="5056632" y="2880360"/>
            <a:ext cx="502920" cy="411480"/>
          </a:xfrm>
          <a:prstGeom prst="rect">
            <a:avLst/>
          </a:prstGeom>
          <a:noFill/>
          <a:ln/>
        </p:spPr>
        <p:txBody>
          <a:bodyPr wrap="square" lIns="0" tIns="0" rIns="0" bIns="0" rtlCol="0" anchor="ctr"/>
          <a:lstStyle/>
          <a:p>
            <a:pPr indent="0" marL="0">
              <a:buNone/>
            </a:pPr>
            <a:r>
              <a:rPr lang="en-US" sz="2200" b="1" dirty="0">
                <a:solidFill>
                  <a:srgbClr val="0D9488"/>
                </a:solidFill>
                <a:latin typeface="Calibri" pitchFamily="34" charset="0"/>
                <a:ea typeface="Calibri" pitchFamily="34" charset="-122"/>
                <a:cs typeface="Calibri" pitchFamily="34" charset="-120"/>
              </a:rPr>
              <a:t>04</a:t>
            </a:r>
            <a:endParaRPr lang="en-US" sz="2200" dirty="0"/>
          </a:p>
        </p:txBody>
      </p:sp>
      <p:sp>
        <p:nvSpPr>
          <p:cNvPr id="21" name="Text 19"/>
          <p:cNvSpPr/>
          <p:nvPr/>
        </p:nvSpPr>
        <p:spPr>
          <a:xfrm>
            <a:off x="5577840" y="2880360"/>
            <a:ext cx="3337560" cy="411480"/>
          </a:xfrm>
          <a:prstGeom prst="rect">
            <a:avLst/>
          </a:prstGeom>
          <a:noFill/>
          <a:ln/>
        </p:spPr>
        <p:txBody>
          <a:bodyPr wrap="square" lIns="0" tIns="0" rIns="0" bIns="0" rtlCol="0" anchor="ctr"/>
          <a:lstStyle/>
          <a:p>
            <a:pPr indent="0" marL="0">
              <a:buNone/>
            </a:pPr>
            <a:r>
              <a:rPr lang="en-US" sz="1250" b="1" dirty="0">
                <a:solidFill>
                  <a:srgbClr val="0F2B46"/>
                </a:solidFill>
                <a:latin typeface="Calibri" pitchFamily="34" charset="0"/>
                <a:ea typeface="Calibri" pitchFamily="34" charset="-122"/>
                <a:cs typeface="Calibri" pitchFamily="34" charset="-120"/>
              </a:rPr>
              <a:t>Don't stop at the results table</a:t>
            </a:r>
            <a:endParaRPr lang="en-US" sz="1250" dirty="0"/>
          </a:p>
        </p:txBody>
      </p:sp>
      <p:sp>
        <p:nvSpPr>
          <p:cNvPr id="22" name="Text 20"/>
          <p:cNvSpPr/>
          <p:nvPr/>
        </p:nvSpPr>
        <p:spPr>
          <a:xfrm>
            <a:off x="5056632" y="3337560"/>
            <a:ext cx="3840480" cy="100584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The results table is the middle, not the end. The project only becomes valuable when someone without a notebook can act on it. That bridge — from findings to usable output — is the real deliverable.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B46"/>
        </a:solidFill>
      </p:bgPr>
    </p:bg>
    <p:spTree>
      <p:nvGrpSpPr>
        <p:cNvPr id="1" name=""/>
        <p:cNvGrpSpPr/>
        <p:nvPr/>
      </p:nvGrpSpPr>
      <p:grpSpPr>
        <a:xfrm>
          <a:off x="0" y="0"/>
          <a:ext cx="0" cy="0"/>
          <a:chOff x="0" y="0"/>
          <a:chExt cx="0" cy="0"/>
        </a:xfrm>
      </p:grpSpPr>
      <p:sp>
        <p:nvSpPr>
          <p:cNvPr id="2" name="Text 0"/>
          <p:cNvSpPr/>
          <p:nvPr/>
        </p:nvSpPr>
        <p:spPr>
          <a:xfrm>
            <a:off x="457200" y="228600"/>
            <a:ext cx="5029200" cy="59436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What I'd Do Differently</a:t>
            </a:r>
            <a:endParaRPr lang="en-US" sz="2800" dirty="0"/>
          </a:p>
        </p:txBody>
      </p:sp>
      <p:sp>
        <p:nvSpPr>
          <p:cNvPr id="3" name="Shape 1"/>
          <p:cNvSpPr/>
          <p:nvPr/>
        </p:nvSpPr>
        <p:spPr>
          <a:xfrm>
            <a:off x="365760" y="1005840"/>
            <a:ext cx="5029200" cy="914400"/>
          </a:xfrm>
          <a:prstGeom prst="rect">
            <a:avLst/>
          </a:prstGeom>
          <a:solidFill>
            <a:srgbClr val="1E2C3D"/>
          </a:solidFill>
          <a:ln/>
          <a:effectLst>
            <a:outerShdw sx="100000" sy="100000" kx="0" ky="0" algn="bl" rotWithShape="0" blurRad="101600" dist="38100" dir="8100000">
              <a:srgbClr val="000000">
                <a:alpha val="12000"/>
              </a:srgbClr>
            </a:outerShdw>
          </a:effectLst>
        </p:spPr>
      </p:sp>
      <p:sp>
        <p:nvSpPr>
          <p:cNvPr id="4" name="Shape 2"/>
          <p:cNvSpPr/>
          <p:nvPr/>
        </p:nvSpPr>
        <p:spPr>
          <a:xfrm>
            <a:off x="365760" y="1005840"/>
            <a:ext cx="64008" cy="914400"/>
          </a:xfrm>
          <a:prstGeom prst="rect">
            <a:avLst/>
          </a:prstGeom>
          <a:solidFill>
            <a:srgbClr val="F59E0B"/>
          </a:solidFill>
          <a:ln/>
        </p:spPr>
      </p:sp>
      <p:sp>
        <p:nvSpPr>
          <p:cNvPr id="5" name="Text 3"/>
          <p:cNvSpPr/>
          <p:nvPr/>
        </p:nvSpPr>
        <p:spPr>
          <a:xfrm>
            <a:off x="548640" y="1078992"/>
            <a:ext cx="4663440" cy="320040"/>
          </a:xfrm>
          <a:prstGeom prst="rect">
            <a:avLst/>
          </a:prstGeom>
          <a:noFill/>
          <a:ln/>
        </p:spPr>
        <p:txBody>
          <a:bodyPr wrap="square" lIns="0" tIns="0" rIns="0" bIns="0" rtlCol="0" anchor="ctr"/>
          <a:lstStyle/>
          <a:p>
            <a:pPr indent="0" marL="0">
              <a:buNone/>
            </a:pPr>
            <a:r>
              <a:rPr lang="en-US" sz="1250" b="1" dirty="0">
                <a:solidFill>
                  <a:srgbClr val="F59E0B"/>
                </a:solidFill>
                <a:latin typeface="Calibri" pitchFamily="34" charset="0"/>
                <a:ea typeface="Calibri" pitchFamily="34" charset="-122"/>
                <a:cs typeface="Calibri" pitchFamily="34" charset="-120"/>
              </a:rPr>
              <a:t>Temporal Analysis</a:t>
            </a:r>
            <a:endParaRPr lang="en-US" sz="1250" dirty="0"/>
          </a:p>
        </p:txBody>
      </p:sp>
      <p:sp>
        <p:nvSpPr>
          <p:cNvPr id="6" name="Text 4"/>
          <p:cNvSpPr/>
          <p:nvPr/>
        </p:nvSpPr>
        <p:spPr>
          <a:xfrm>
            <a:off x="548640" y="1417320"/>
            <a:ext cx="4663440" cy="41148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Treated all transactions as one pool. Splitting by season (Q4 holiday vs. Q1 off-peak) would reveal very different rule sets and enable seasonal recommendation tuning.</a:t>
            </a:r>
            <a:endParaRPr lang="en-US" sz="1050" dirty="0"/>
          </a:p>
        </p:txBody>
      </p:sp>
      <p:sp>
        <p:nvSpPr>
          <p:cNvPr id="7" name="Shape 5"/>
          <p:cNvSpPr/>
          <p:nvPr/>
        </p:nvSpPr>
        <p:spPr>
          <a:xfrm>
            <a:off x="365760" y="2057400"/>
            <a:ext cx="5029200" cy="914400"/>
          </a:xfrm>
          <a:prstGeom prst="rect">
            <a:avLst/>
          </a:prstGeom>
          <a:solidFill>
            <a:srgbClr val="1E2C3D"/>
          </a:solidFill>
          <a:ln/>
          <a:effectLst>
            <a:outerShdw sx="100000" sy="100000" kx="0" ky="0" algn="bl" rotWithShape="0" blurRad="101600" dist="38100" dir="8100000">
              <a:srgbClr val="000000">
                <a:alpha val="12000"/>
              </a:srgbClr>
            </a:outerShdw>
          </a:effectLst>
        </p:spPr>
      </p:sp>
      <p:sp>
        <p:nvSpPr>
          <p:cNvPr id="8" name="Shape 6"/>
          <p:cNvSpPr/>
          <p:nvPr/>
        </p:nvSpPr>
        <p:spPr>
          <a:xfrm>
            <a:off x="365760" y="2057400"/>
            <a:ext cx="64008" cy="914400"/>
          </a:xfrm>
          <a:prstGeom prst="rect">
            <a:avLst/>
          </a:prstGeom>
          <a:solidFill>
            <a:srgbClr val="F59E0B"/>
          </a:solidFill>
          <a:ln/>
        </p:spPr>
      </p:sp>
      <p:sp>
        <p:nvSpPr>
          <p:cNvPr id="9" name="Text 7"/>
          <p:cNvSpPr/>
          <p:nvPr/>
        </p:nvSpPr>
        <p:spPr>
          <a:xfrm>
            <a:off x="548640" y="2130552"/>
            <a:ext cx="4663440" cy="320040"/>
          </a:xfrm>
          <a:prstGeom prst="rect">
            <a:avLst/>
          </a:prstGeom>
          <a:noFill/>
          <a:ln/>
        </p:spPr>
        <p:txBody>
          <a:bodyPr wrap="square" lIns="0" tIns="0" rIns="0" bIns="0" rtlCol="0" anchor="ctr"/>
          <a:lstStyle/>
          <a:p>
            <a:pPr indent="0" marL="0">
              <a:buNone/>
            </a:pPr>
            <a:r>
              <a:rPr lang="en-US" sz="1250" b="1" dirty="0">
                <a:solidFill>
                  <a:srgbClr val="F59E0B"/>
                </a:solidFill>
                <a:latin typeface="Calibri" pitchFamily="34" charset="0"/>
                <a:ea typeface="Calibri" pitchFamily="34" charset="-122"/>
                <a:cs typeface="Calibri" pitchFamily="34" charset="-120"/>
              </a:rPr>
              <a:t>Cross-Sell Heuristic</a:t>
            </a:r>
            <a:endParaRPr lang="en-US" sz="1250" dirty="0"/>
          </a:p>
        </p:txBody>
      </p:sp>
      <p:sp>
        <p:nvSpPr>
          <p:cNvPr id="10" name="Text 8"/>
          <p:cNvSpPr/>
          <p:nvPr/>
        </p:nvSpPr>
        <p:spPr>
          <a:xfrm>
            <a:off x="548640" y="2468880"/>
            <a:ext cx="4663440" cy="41148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Word-overlap works reasonably on this catalog, but misclassifies products sharing incidental words like 'RED.' An embedding-based or taxonomy approach would be more robust.</a:t>
            </a:r>
            <a:endParaRPr lang="en-US" sz="1050" dirty="0"/>
          </a:p>
        </p:txBody>
      </p:sp>
      <p:sp>
        <p:nvSpPr>
          <p:cNvPr id="11" name="Shape 9"/>
          <p:cNvSpPr/>
          <p:nvPr/>
        </p:nvSpPr>
        <p:spPr>
          <a:xfrm>
            <a:off x="365760" y="3108960"/>
            <a:ext cx="5029200" cy="914400"/>
          </a:xfrm>
          <a:prstGeom prst="rect">
            <a:avLst/>
          </a:prstGeom>
          <a:solidFill>
            <a:srgbClr val="1E2C3D"/>
          </a:solidFill>
          <a:ln/>
          <a:effectLst>
            <a:outerShdw sx="100000" sy="100000" kx="0" ky="0" algn="bl" rotWithShape="0" blurRad="101600" dist="38100" dir="8100000">
              <a:srgbClr val="000000">
                <a:alpha val="12000"/>
              </a:srgbClr>
            </a:outerShdw>
          </a:effectLst>
        </p:spPr>
      </p:sp>
      <p:sp>
        <p:nvSpPr>
          <p:cNvPr id="12" name="Shape 10"/>
          <p:cNvSpPr/>
          <p:nvPr/>
        </p:nvSpPr>
        <p:spPr>
          <a:xfrm>
            <a:off x="365760" y="3108960"/>
            <a:ext cx="64008" cy="914400"/>
          </a:xfrm>
          <a:prstGeom prst="rect">
            <a:avLst/>
          </a:prstGeom>
          <a:solidFill>
            <a:srgbClr val="F59E0B"/>
          </a:solidFill>
          <a:ln/>
        </p:spPr>
      </p:sp>
      <p:sp>
        <p:nvSpPr>
          <p:cNvPr id="13" name="Text 11"/>
          <p:cNvSpPr/>
          <p:nvPr/>
        </p:nvSpPr>
        <p:spPr>
          <a:xfrm>
            <a:off x="548640" y="3182112"/>
            <a:ext cx="4663440" cy="320040"/>
          </a:xfrm>
          <a:prstGeom prst="rect">
            <a:avLst/>
          </a:prstGeom>
          <a:noFill/>
          <a:ln/>
        </p:spPr>
        <p:txBody>
          <a:bodyPr wrap="square" lIns="0" tIns="0" rIns="0" bIns="0" rtlCol="0" anchor="ctr"/>
          <a:lstStyle/>
          <a:p>
            <a:pPr indent="0" marL="0">
              <a:buNone/>
            </a:pPr>
            <a:r>
              <a:rPr lang="en-US" sz="1250" b="1" dirty="0">
                <a:solidFill>
                  <a:srgbClr val="F59E0B"/>
                </a:solidFill>
                <a:latin typeface="Calibri" pitchFamily="34" charset="0"/>
                <a:ea typeface="Calibri" pitchFamily="34" charset="-122"/>
                <a:cs typeface="Calibri" pitchFamily="34" charset="-120"/>
              </a:rPr>
              <a:t>Richer Visualization</a:t>
            </a:r>
            <a:endParaRPr lang="en-US" sz="1250" dirty="0"/>
          </a:p>
        </p:txBody>
      </p:sp>
      <p:sp>
        <p:nvSpPr>
          <p:cNvPr id="14" name="Text 12"/>
          <p:cNvSpPr/>
          <p:nvPr/>
        </p:nvSpPr>
        <p:spPr>
          <a:xfrm>
            <a:off x="548640" y="3520440"/>
            <a:ext cx="4663440" cy="41148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The scatter plot was useful but minimal. A lift network graph or rule pair heatmap would have communicated the findings with much more impact.</a:t>
            </a:r>
            <a:endParaRPr lang="en-US" sz="1050" dirty="0"/>
          </a:p>
        </p:txBody>
      </p:sp>
      <p:sp>
        <p:nvSpPr>
          <p:cNvPr id="15" name="Shape 13"/>
          <p:cNvSpPr/>
          <p:nvPr/>
        </p:nvSpPr>
        <p:spPr>
          <a:xfrm>
            <a:off x="5669280" y="822960"/>
            <a:ext cx="3200400" cy="3474720"/>
          </a:xfrm>
          <a:prstGeom prst="rect">
            <a:avLst/>
          </a:prstGeom>
          <a:solidFill>
            <a:srgbClr val="0D9488"/>
          </a:solidFill>
          <a:ln/>
          <a:effectLst>
            <a:outerShdw sx="100000" sy="100000" kx="0" ky="0" algn="bl" rotWithShape="0" blurRad="101600" dist="38100" dir="8100000">
              <a:srgbClr val="000000">
                <a:alpha val="12000"/>
              </a:srgbClr>
            </a:outerShdw>
          </a:effectLst>
        </p:spPr>
      </p:sp>
      <p:sp>
        <p:nvSpPr>
          <p:cNvPr id="16" name="Text 14"/>
          <p:cNvSpPr/>
          <p:nvPr/>
        </p:nvSpPr>
        <p:spPr>
          <a:xfrm>
            <a:off x="5760720" y="914400"/>
            <a:ext cx="3017520" cy="411480"/>
          </a:xfrm>
          <a:prstGeom prst="rect">
            <a:avLst/>
          </a:prstGeom>
          <a:noFill/>
          <a:ln/>
        </p:spPr>
        <p:txBody>
          <a:bodyPr wrap="square" lIns="0" tIns="0" rIns="0" bIns="0" rtlCol="0" anchor="ctr"/>
          <a:lstStyle/>
          <a:p>
            <a:pPr algn="ctr" indent="0" marL="0">
              <a:buNone/>
            </a:pPr>
            <a:r>
              <a:rPr lang="en-US" sz="1500" b="1" dirty="0">
                <a:solidFill>
                  <a:srgbClr val="0F2B46"/>
                </a:solidFill>
                <a:latin typeface="Calibri" pitchFamily="34" charset="0"/>
                <a:ea typeface="Calibri" pitchFamily="34" charset="-122"/>
                <a:cs typeface="Calibri" pitchFamily="34" charset="-120"/>
              </a:rPr>
              <a:t>Main Takeaway</a:t>
            </a:r>
            <a:endParaRPr lang="en-US" sz="1500" dirty="0"/>
          </a:p>
        </p:txBody>
      </p:sp>
      <p:sp>
        <p:nvSpPr>
          <p:cNvPr id="17" name="Shape 15"/>
          <p:cNvSpPr/>
          <p:nvPr/>
        </p:nvSpPr>
        <p:spPr>
          <a:xfrm>
            <a:off x="5989320" y="1389888"/>
            <a:ext cx="2560320" cy="45720"/>
          </a:xfrm>
          <a:prstGeom prst="rect">
            <a:avLst/>
          </a:prstGeom>
          <a:solidFill>
            <a:srgbClr val="0F2B46">
              <a:alpha val="60000"/>
            </a:srgbClr>
          </a:solidFill>
          <a:ln/>
        </p:spPr>
      </p:sp>
      <p:sp>
        <p:nvSpPr>
          <p:cNvPr id="18" name="Text 16"/>
          <p:cNvSpPr/>
          <p:nvPr/>
        </p:nvSpPr>
        <p:spPr>
          <a:xfrm>
            <a:off x="5760720" y="1508760"/>
            <a:ext cx="3017520" cy="2651760"/>
          </a:xfrm>
          <a:prstGeom prst="rect">
            <a:avLst/>
          </a:prstGeom>
          <a:noFill/>
          <a:ln/>
        </p:spPr>
        <p:txBody>
          <a:bodyPr wrap="square" lIns="0" tIns="0" rIns="0" bIns="0" rtlCol="0" anchor="ctr"/>
          <a:lstStyle/>
          <a:p>
            <a:pPr algn="ctr" indent="0" marL="0">
              <a:buNone/>
            </a:pPr>
            <a:r>
              <a:rPr lang="en-US" sz="1200" dirty="0">
                <a:solidFill>
                  <a:srgbClr val="0F2B46"/>
                </a:solidFill>
                <a:latin typeface="Calibri" pitchFamily="34" charset="0"/>
                <a:ea typeface="Calibri" pitchFamily="34" charset="-122"/>
                <a:cs typeface="Calibri" pitchFamily="34" charset="-120"/>
              </a:rPr>
              <a:t>Move from analysis to artifact.</a:t>
            </a:r>
            <a:endParaRPr lang="en-US" sz="1200" dirty="0"/>
          </a:p>
          <a:p>
            <a:pPr algn="ctr" indent="0" marL="0">
              <a:buNone/>
            </a:pPr>
            <a:endParaRPr lang="en-US" sz="1200" dirty="0"/>
          </a:p>
          <a:p>
            <a:pPr algn="ctr" indent="0" marL="0">
              <a:buNone/>
            </a:pPr>
            <a:r>
              <a:rPr lang="en-US" sz="1200" dirty="0">
                <a:solidFill>
                  <a:srgbClr val="0F2B46"/>
                </a:solidFill>
                <a:latin typeface="Calibri" pitchFamily="34" charset="0"/>
                <a:ea typeface="Calibri" pitchFamily="34" charset="-122"/>
                <a:cs typeface="Calibri" pitchFamily="34" charset="-120"/>
              </a:rPr>
              <a:t>Data science is too often treated as ending at the results table.</a:t>
            </a:r>
            <a:endParaRPr lang="en-US" sz="1200" dirty="0"/>
          </a:p>
          <a:p>
            <a:pPr algn="ctr" indent="0" marL="0">
              <a:buNone/>
            </a:pPr>
            <a:endParaRPr lang="en-US" sz="1200" dirty="0"/>
          </a:p>
          <a:p>
            <a:pPr algn="ctr" indent="0" marL="0">
              <a:buNone/>
            </a:pPr>
            <a:r>
              <a:rPr lang="en-US" sz="1200" dirty="0">
                <a:solidFill>
                  <a:srgbClr val="0F2B46"/>
                </a:solidFill>
                <a:latin typeface="Calibri" pitchFamily="34" charset="0"/>
                <a:ea typeface="Calibri" pitchFamily="34" charset="-122"/>
                <a:cs typeface="Calibri" pitchFamily="34" charset="-120"/>
              </a:rPr>
              <a:t>This project made concrete that the results table is the middle — not the end.</a:t>
            </a:r>
            <a:endParaRPr lang="en-US" sz="1200" dirty="0"/>
          </a:p>
        </p:txBody>
      </p:sp>
      <p:sp>
        <p:nvSpPr>
          <p:cNvPr id="19" name="Shape 17"/>
          <p:cNvSpPr/>
          <p:nvPr/>
        </p:nvSpPr>
        <p:spPr>
          <a:xfrm>
            <a:off x="365760" y="4160520"/>
            <a:ext cx="8412480" cy="777240"/>
          </a:xfrm>
          <a:prstGeom prst="rect">
            <a:avLst/>
          </a:prstGeom>
          <a:solidFill>
            <a:srgbClr val="0D9488">
              <a:alpha val="20000"/>
            </a:srgbClr>
          </a:solidFill>
          <a:ln/>
        </p:spPr>
      </p:sp>
      <p:sp>
        <p:nvSpPr>
          <p:cNvPr id="20" name="Text 18"/>
          <p:cNvSpPr/>
          <p:nvPr/>
        </p:nvSpPr>
        <p:spPr>
          <a:xfrm>
            <a:off x="548640" y="4206240"/>
            <a:ext cx="8046720" cy="68580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The recommendation engine is only valuable because someone who has never opened a Jupyter notebook can pick a product from a dropdown and immediately see actionable intelligence.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 Basket Analysis &amp; Smart Retail Recommendation System</dc:title>
  <dc:subject>PptxGenJS Presentation</dc:subject>
  <dc:creator>Chikamso Ezeaku</dc:creator>
  <cp:lastModifiedBy>Chikamso Ezeaku</cp:lastModifiedBy>
  <cp:revision>1</cp:revision>
  <dcterms:created xsi:type="dcterms:W3CDTF">2026-04-22T02:06:41Z</dcterms:created>
  <dcterms:modified xsi:type="dcterms:W3CDTF">2026-04-22T02:06:41Z</dcterms:modified>
</cp:coreProperties>
</file>